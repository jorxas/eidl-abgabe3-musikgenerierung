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2494" autoAdjust="0"/>
  </p:normalViewPr>
  <p:slideViewPr>
    <p:cSldViewPr snapToGrid="0" snapToObjects="1">
      <p:cViewPr varScale="1">
        <p:scale>
          <a:sx n="58" d="100"/>
          <a:sy n="58" d="100"/>
        </p:scale>
        <p:origin x="204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0825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▶ BEGRÜSSUNG</a:t>
            </a:r>
          </a:p>
          <a:p>
            <a:r>
              <a:rPr dirty="0"/>
              <a:t>"</a:t>
            </a:r>
            <a:r>
              <a:rPr dirty="0" err="1"/>
              <a:t>Guten</a:t>
            </a:r>
            <a:r>
              <a:rPr dirty="0"/>
              <a:t> Morgen. Wir </a:t>
            </a:r>
            <a:r>
              <a:rPr dirty="0" err="1"/>
              <a:t>sind</a:t>
            </a:r>
            <a:r>
              <a:rPr dirty="0"/>
              <a:t> Jordan Pokem und Leslie Tsafack.</a:t>
            </a:r>
          </a:p>
          <a:p>
            <a:r>
              <a:rPr dirty="0"/>
              <a:t>Unser Thema </a:t>
            </a:r>
            <a:r>
              <a:rPr dirty="0" err="1"/>
              <a:t>ist</a:t>
            </a:r>
            <a:r>
              <a:rPr dirty="0"/>
              <a:t> die </a:t>
            </a:r>
            <a:r>
              <a:rPr dirty="0" err="1"/>
              <a:t>Abgabe</a:t>
            </a:r>
            <a:r>
              <a:rPr dirty="0"/>
              <a:t> 3: </a:t>
            </a:r>
            <a:r>
              <a:rPr dirty="0" err="1"/>
              <a:t>Musikgenerierung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RNNs.</a:t>
            </a:r>
          </a:p>
          <a:p>
            <a:r>
              <a:rPr dirty="0"/>
              <a:t>Wir </a:t>
            </a:r>
            <a:r>
              <a:rPr dirty="0" err="1"/>
              <a:t>haben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LSTM </a:t>
            </a:r>
            <a:r>
              <a:rPr dirty="0" err="1"/>
              <a:t>trainiert</a:t>
            </a:r>
            <a:r>
              <a:rPr dirty="0"/>
              <a:t>, das </a:t>
            </a:r>
            <a:r>
              <a:rPr dirty="0" err="1"/>
              <a:t>irische</a:t>
            </a:r>
            <a:r>
              <a:rPr dirty="0"/>
              <a:t> </a:t>
            </a:r>
            <a:r>
              <a:rPr dirty="0" err="1"/>
              <a:t>Volksmusik</a:t>
            </a:r>
            <a:r>
              <a:rPr dirty="0"/>
              <a:t> in ABC-Notation</a:t>
            </a:r>
          </a:p>
          <a:p>
            <a:r>
              <a:rPr dirty="0" err="1"/>
              <a:t>liest</a:t>
            </a:r>
            <a:r>
              <a:rPr dirty="0"/>
              <a:t> und </a:t>
            </a:r>
            <a:r>
              <a:rPr dirty="0" err="1"/>
              <a:t>daraus</a:t>
            </a:r>
            <a:r>
              <a:rPr dirty="0"/>
              <a:t> </a:t>
            </a:r>
            <a:r>
              <a:rPr dirty="0" err="1"/>
              <a:t>selbst</a:t>
            </a:r>
            <a:r>
              <a:rPr dirty="0"/>
              <a:t> </a:t>
            </a:r>
            <a:r>
              <a:rPr dirty="0" err="1"/>
              <a:t>neue</a:t>
            </a:r>
            <a:r>
              <a:rPr dirty="0"/>
              <a:t> </a:t>
            </a:r>
            <a:r>
              <a:rPr dirty="0" err="1"/>
              <a:t>Melodien</a:t>
            </a:r>
            <a:r>
              <a:rPr dirty="0"/>
              <a:t> </a:t>
            </a:r>
            <a:r>
              <a:rPr dirty="0" err="1"/>
              <a:t>komponiert</a:t>
            </a:r>
            <a:r>
              <a:rPr dirty="0"/>
              <a:t>.</a:t>
            </a:r>
          </a:p>
          <a:p>
            <a:r>
              <a:rPr dirty="0"/>
              <a:t>Am Ende </a:t>
            </a:r>
            <a:r>
              <a:rPr dirty="0" err="1"/>
              <a:t>spielen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Ihnen </a:t>
            </a:r>
            <a:r>
              <a:rPr dirty="0" err="1"/>
              <a:t>ein</a:t>
            </a:r>
            <a:r>
              <a:rPr dirty="0"/>
              <a:t> Stück </a:t>
            </a:r>
            <a:r>
              <a:rPr dirty="0" err="1"/>
              <a:t>vor</a:t>
            </a:r>
            <a:r>
              <a:rPr dirty="0"/>
              <a:t>, das </a:t>
            </a:r>
            <a:r>
              <a:rPr dirty="0" err="1"/>
              <a:t>das</a:t>
            </a:r>
            <a:r>
              <a:rPr dirty="0"/>
              <a:t> Modell </a:t>
            </a:r>
            <a:r>
              <a:rPr dirty="0" err="1"/>
              <a:t>erfunden</a:t>
            </a:r>
            <a:r>
              <a:rPr dirty="0"/>
              <a:t> hat."</a:t>
            </a:r>
          </a:p>
          <a:p>
            <a:endParaRPr dirty="0"/>
          </a:p>
          <a:p>
            <a:r>
              <a:rPr dirty="0"/>
              <a:t>▶ ABLAUF ANKÜNDIGEN</a:t>
            </a:r>
          </a:p>
          <a:p>
            <a:r>
              <a:rPr dirty="0"/>
              <a:t>Aufgabe → </a:t>
            </a:r>
            <a:r>
              <a:rPr dirty="0" err="1"/>
              <a:t>Daten</a:t>
            </a:r>
            <a:r>
              <a:rPr dirty="0"/>
              <a:t> → </a:t>
            </a:r>
            <a:r>
              <a:rPr dirty="0" err="1"/>
              <a:t>Architektur</a:t>
            </a:r>
            <a:r>
              <a:rPr dirty="0"/>
              <a:t> → Training → </a:t>
            </a:r>
            <a:r>
              <a:rPr dirty="0" err="1"/>
              <a:t>Ergebnisse</a:t>
            </a:r>
            <a:r>
              <a:rPr dirty="0"/>
              <a:t> → Bonus → </a:t>
            </a:r>
            <a:r>
              <a:rPr dirty="0" err="1"/>
              <a:t>Fazit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💡 TIPP: </a:t>
            </a:r>
            <a:r>
              <a:rPr dirty="0" err="1"/>
              <a:t>ruhig</a:t>
            </a:r>
            <a:r>
              <a:rPr dirty="0"/>
              <a:t> </a:t>
            </a:r>
            <a:r>
              <a:rPr dirty="0" err="1"/>
              <a:t>atmen</a:t>
            </a:r>
            <a:r>
              <a:rPr dirty="0"/>
              <a:t>, </a:t>
            </a:r>
            <a:r>
              <a:rPr dirty="0" err="1"/>
              <a:t>Blickkontakt</a:t>
            </a:r>
            <a:r>
              <a:rPr dirty="0"/>
              <a:t>, </a:t>
            </a:r>
            <a:r>
              <a:rPr dirty="0" err="1"/>
              <a:t>dann</a:t>
            </a:r>
            <a:r>
              <a:rPr dirty="0"/>
              <a:t> erst </a:t>
            </a:r>
            <a:r>
              <a:rPr dirty="0" err="1"/>
              <a:t>weiterklicken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▶ KERNIDEE (der </a:t>
            </a:r>
            <a:r>
              <a:rPr dirty="0" err="1"/>
              <a:t>wichtigste</a:t>
            </a:r>
            <a:r>
              <a:rPr dirty="0"/>
              <a:t> Satz der </a:t>
            </a:r>
            <a:r>
              <a:rPr dirty="0" err="1"/>
              <a:t>ganzen</a:t>
            </a:r>
            <a:r>
              <a:rPr dirty="0"/>
              <a:t> </a:t>
            </a:r>
            <a:r>
              <a:rPr dirty="0" err="1"/>
              <a:t>Präsentation</a:t>
            </a:r>
            <a:r>
              <a:rPr dirty="0"/>
              <a:t>!)</a:t>
            </a:r>
          </a:p>
          <a:p>
            <a:r>
              <a:rPr dirty="0"/>
              <a:t>"Musik in ABC-Notation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einfach</a:t>
            </a:r>
            <a:r>
              <a:rPr dirty="0"/>
              <a:t> Text.</a:t>
            </a:r>
          </a:p>
          <a:p>
            <a:r>
              <a:rPr dirty="0"/>
              <a:t>Damit </a:t>
            </a:r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Musikgenerierung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einem</a:t>
            </a:r>
            <a:r>
              <a:rPr dirty="0"/>
              <a:t> </a:t>
            </a:r>
            <a:r>
              <a:rPr dirty="0" err="1"/>
              <a:t>Sprachmodellierungs</a:t>
            </a:r>
            <a:r>
              <a:rPr dirty="0"/>
              <a:t>-Problem:</a:t>
            </a:r>
          </a:p>
          <a:p>
            <a:r>
              <a:rPr dirty="0"/>
              <a:t>Das Netz </a:t>
            </a:r>
            <a:r>
              <a:rPr dirty="0" err="1"/>
              <a:t>lernt</a:t>
            </a:r>
            <a:r>
              <a:rPr dirty="0"/>
              <a:t>, das </a:t>
            </a:r>
            <a:r>
              <a:rPr dirty="0" err="1"/>
              <a:t>jeweils</a:t>
            </a:r>
            <a:r>
              <a:rPr dirty="0"/>
              <a:t> </a:t>
            </a:r>
            <a:r>
              <a:rPr dirty="0" err="1"/>
              <a:t>nächste</a:t>
            </a:r>
            <a:r>
              <a:rPr dirty="0"/>
              <a:t> </a:t>
            </a:r>
            <a:r>
              <a:rPr dirty="0" err="1"/>
              <a:t>Zeichen</a:t>
            </a:r>
            <a:r>
              <a:rPr dirty="0"/>
              <a:t> </a:t>
            </a:r>
            <a:r>
              <a:rPr dirty="0" err="1"/>
              <a:t>vorherzusagen</a:t>
            </a:r>
            <a:r>
              <a:rPr dirty="0"/>
              <a:t>."</a:t>
            </a:r>
          </a:p>
          <a:p>
            <a:endParaRPr dirty="0"/>
          </a:p>
          <a:p>
            <a:r>
              <a:rPr dirty="0"/>
              <a:t>▶ WARUM EIN RNN UND KEIN NORMALES NETZ?</a:t>
            </a:r>
          </a:p>
          <a:p>
            <a:r>
              <a:rPr dirty="0"/>
              <a:t>"Ein </a:t>
            </a:r>
            <a:r>
              <a:rPr dirty="0" err="1"/>
              <a:t>klassisches</a:t>
            </a:r>
            <a:r>
              <a:rPr dirty="0"/>
              <a:t> Netz </a:t>
            </a:r>
            <a:r>
              <a:rPr dirty="0" err="1"/>
              <a:t>erwartet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feste</a:t>
            </a:r>
            <a:r>
              <a:rPr dirty="0"/>
              <a:t> </a:t>
            </a:r>
            <a:r>
              <a:rPr dirty="0" err="1"/>
              <a:t>Eingabegröße</a:t>
            </a:r>
            <a:r>
              <a:rPr dirty="0"/>
              <a:t> und </a:t>
            </a:r>
            <a:r>
              <a:rPr dirty="0" err="1"/>
              <a:t>erfasst</a:t>
            </a:r>
            <a:r>
              <a:rPr dirty="0"/>
              <a:t> die</a:t>
            </a:r>
          </a:p>
          <a:p>
            <a:r>
              <a:rPr dirty="0" err="1"/>
              <a:t>zeitliche</a:t>
            </a:r>
            <a:r>
              <a:rPr dirty="0"/>
              <a:t> </a:t>
            </a:r>
            <a:r>
              <a:rPr dirty="0" err="1"/>
              <a:t>Reihenfolge</a:t>
            </a:r>
            <a:r>
              <a:rPr dirty="0"/>
              <a:t> nicht. Musik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aber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Sequenz</a:t>
            </a:r>
            <a:r>
              <a:rPr dirty="0"/>
              <a:t>: variable </a:t>
            </a:r>
            <a:r>
              <a:rPr dirty="0" err="1"/>
              <a:t>Länge</a:t>
            </a:r>
            <a:r>
              <a:rPr dirty="0"/>
              <a:t>,</a:t>
            </a:r>
          </a:p>
          <a:p>
            <a:r>
              <a:rPr dirty="0"/>
              <a:t>und die </a:t>
            </a:r>
            <a:r>
              <a:rPr dirty="0" err="1"/>
              <a:t>Reihenfolge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entscheidend</a:t>
            </a:r>
            <a:r>
              <a:rPr dirty="0"/>
              <a:t> – </a:t>
            </a:r>
            <a:r>
              <a:rPr dirty="0" err="1"/>
              <a:t>dieselben</a:t>
            </a:r>
            <a:r>
              <a:rPr dirty="0"/>
              <a:t> Noten in </a:t>
            </a:r>
            <a:r>
              <a:rPr dirty="0" err="1"/>
              <a:t>anderer</a:t>
            </a:r>
            <a:endParaRPr dirty="0"/>
          </a:p>
          <a:p>
            <a:r>
              <a:rPr dirty="0" err="1"/>
              <a:t>Reihenfolge</a:t>
            </a:r>
            <a:r>
              <a:rPr dirty="0"/>
              <a:t> </a:t>
            </a:r>
            <a:r>
              <a:rPr dirty="0" err="1"/>
              <a:t>ergeben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völlig</a:t>
            </a:r>
            <a:r>
              <a:rPr dirty="0"/>
              <a:t> </a:t>
            </a:r>
            <a:r>
              <a:rPr dirty="0" err="1"/>
              <a:t>andere</a:t>
            </a:r>
            <a:r>
              <a:rPr dirty="0"/>
              <a:t> Melodie."</a:t>
            </a:r>
          </a:p>
          <a:p>
            <a:endParaRPr dirty="0"/>
          </a:p>
          <a:p>
            <a:r>
              <a:rPr dirty="0"/>
              <a:t>▶ RECHTS: die Pipeline von </a:t>
            </a:r>
            <a:r>
              <a:rPr dirty="0" err="1"/>
              <a:t>oben</a:t>
            </a:r>
            <a:r>
              <a:rPr dirty="0"/>
              <a:t> </a:t>
            </a:r>
            <a:r>
              <a:rPr dirty="0" err="1"/>
              <a:t>nach</a:t>
            </a:r>
            <a:r>
              <a:rPr dirty="0"/>
              <a:t> </a:t>
            </a:r>
            <a:r>
              <a:rPr dirty="0" err="1"/>
              <a:t>unten</a:t>
            </a:r>
            <a:r>
              <a:rPr dirty="0"/>
              <a:t> </a:t>
            </a:r>
            <a:r>
              <a:rPr dirty="0" err="1"/>
              <a:t>kurz</a:t>
            </a:r>
            <a:r>
              <a:rPr dirty="0"/>
              <a:t> </a:t>
            </a:r>
            <a:r>
              <a:rPr dirty="0" err="1"/>
              <a:t>durchgehen</a:t>
            </a:r>
            <a:endParaRPr dirty="0"/>
          </a:p>
          <a:p>
            <a:r>
              <a:rPr dirty="0"/>
              <a:t>ABC-Text → </a:t>
            </a:r>
            <a:r>
              <a:rPr dirty="0" err="1"/>
              <a:t>Zeichen</a:t>
            </a:r>
            <a:r>
              <a:rPr dirty="0"/>
              <a:t>-Tokenizer → Embedding + LSTM → Sampling → </a:t>
            </a:r>
            <a:r>
              <a:rPr dirty="0" err="1"/>
              <a:t>neue</a:t>
            </a:r>
            <a:r>
              <a:rPr dirty="0"/>
              <a:t> Melodie.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▶ SAGEN</a:t>
            </a:r>
          </a:p>
          <a:p>
            <a:r>
              <a:rPr dirty="0"/>
              <a:t>"</a:t>
            </a:r>
            <a:r>
              <a:rPr lang="fr-FR" dirty="0"/>
              <a:t>In </a:t>
            </a:r>
            <a:r>
              <a:rPr lang="fr-FR" dirty="0" err="1"/>
              <a:t>Task</a:t>
            </a:r>
            <a:r>
              <a:rPr lang="fr-FR" dirty="0"/>
              <a:t> 1 </a:t>
            </a:r>
            <a:r>
              <a:rPr lang="fr-FR" dirty="0" err="1"/>
              <a:t>haben</a:t>
            </a:r>
            <a:r>
              <a:rPr lang="fr-FR" dirty="0"/>
              <a:t> </a:t>
            </a:r>
            <a:r>
              <a:rPr lang="fr-FR" dirty="0" err="1"/>
              <a:t>wir</a:t>
            </a:r>
            <a:r>
              <a:rPr lang="fr-FR" dirty="0"/>
              <a:t> den </a:t>
            </a:r>
            <a:r>
              <a:rPr lang="fr-FR" dirty="0" err="1"/>
              <a:t>IrishMAN-Datensatz</a:t>
            </a:r>
            <a:r>
              <a:rPr lang="fr-FR" dirty="0"/>
              <a:t> von </a:t>
            </a:r>
            <a:r>
              <a:rPr lang="fr-FR" dirty="0" err="1"/>
              <a:t>Hugging</a:t>
            </a:r>
            <a:r>
              <a:rPr lang="fr-FR" dirty="0"/>
              <a:t> Face </a:t>
            </a:r>
            <a:r>
              <a:rPr lang="fr-FR" dirty="0" err="1"/>
              <a:t>geladen</a:t>
            </a:r>
            <a:r>
              <a:rPr lang="fr-FR" dirty="0"/>
              <a:t> </a:t>
            </a:r>
            <a:r>
              <a:rPr lang="fr-FR" dirty="0" err="1"/>
              <a:t>und</a:t>
            </a:r>
            <a:r>
              <a:rPr lang="fr-FR" dirty="0"/>
              <a:t> 8000 ABC-</a:t>
            </a:r>
            <a:r>
              <a:rPr lang="fr-FR" dirty="0" err="1"/>
              <a:t>Stücke</a:t>
            </a:r>
            <a:r>
              <a:rPr lang="fr-FR" dirty="0"/>
              <a:t> </a:t>
            </a:r>
            <a:r>
              <a:rPr lang="fr-FR" dirty="0" err="1"/>
              <a:t>verwendet</a:t>
            </a:r>
            <a:r>
              <a:rPr lang="fr-FR" dirty="0"/>
              <a:t>. ABC </a:t>
            </a:r>
            <a:r>
              <a:rPr lang="fr-FR" dirty="0" err="1"/>
              <a:t>ist</a:t>
            </a:r>
            <a:r>
              <a:rPr lang="fr-FR" dirty="0"/>
              <a:t> </a:t>
            </a:r>
            <a:r>
              <a:rPr lang="fr-FR" dirty="0" err="1"/>
              <a:t>Text</a:t>
            </a:r>
            <a:r>
              <a:rPr lang="fr-FR" dirty="0"/>
              <a:t>, </a:t>
            </a:r>
            <a:r>
              <a:rPr lang="fr-FR" dirty="0" err="1"/>
              <a:t>deshalb</a:t>
            </a:r>
            <a:r>
              <a:rPr lang="fr-FR" dirty="0"/>
              <a:t> </a:t>
            </a:r>
            <a:r>
              <a:rPr lang="fr-FR" dirty="0" err="1"/>
              <a:t>nutzen</a:t>
            </a:r>
            <a:r>
              <a:rPr lang="fr-FR" dirty="0"/>
              <a:t> </a:t>
            </a:r>
            <a:r>
              <a:rPr lang="fr-FR" dirty="0" err="1"/>
              <a:t>wir</a:t>
            </a:r>
            <a:r>
              <a:rPr lang="fr-FR" dirty="0"/>
              <a:t> </a:t>
            </a:r>
            <a:r>
              <a:rPr lang="fr-FR" dirty="0" err="1"/>
              <a:t>einen</a:t>
            </a:r>
            <a:r>
              <a:rPr lang="fr-FR" dirty="0"/>
              <a:t> </a:t>
            </a:r>
            <a:r>
              <a:rPr lang="fr-FR" dirty="0" err="1"/>
              <a:t>Zeichen-Tokenizer</a:t>
            </a:r>
            <a:r>
              <a:rPr lang="fr-FR" dirty="0"/>
              <a:t>: </a:t>
            </a:r>
            <a:r>
              <a:rPr lang="fr-FR" dirty="0" err="1"/>
              <a:t>jedes</a:t>
            </a:r>
            <a:r>
              <a:rPr lang="fr-FR" dirty="0"/>
              <a:t> </a:t>
            </a:r>
            <a:r>
              <a:rPr lang="fr-FR" dirty="0" err="1"/>
              <a:t>Zeichen</a:t>
            </a:r>
            <a:r>
              <a:rPr lang="fr-FR" dirty="0"/>
              <a:t> </a:t>
            </a:r>
            <a:r>
              <a:rPr lang="fr-FR" dirty="0" err="1"/>
              <a:t>wird</a:t>
            </a:r>
            <a:r>
              <a:rPr lang="fr-FR" dirty="0"/>
              <a:t> </a:t>
            </a:r>
            <a:r>
              <a:rPr lang="fr-FR" dirty="0" err="1"/>
              <a:t>zu</a:t>
            </a:r>
            <a:r>
              <a:rPr lang="fr-FR" dirty="0"/>
              <a:t> </a:t>
            </a:r>
            <a:r>
              <a:rPr lang="fr-FR" dirty="0" err="1"/>
              <a:t>einer</a:t>
            </a:r>
            <a:r>
              <a:rPr lang="fr-FR" dirty="0"/>
              <a:t> ID, </a:t>
            </a:r>
            <a:r>
              <a:rPr lang="fr-FR" dirty="0" err="1"/>
              <a:t>unser</a:t>
            </a:r>
            <a:r>
              <a:rPr lang="fr-FR" dirty="0"/>
              <a:t> </a:t>
            </a:r>
            <a:r>
              <a:rPr lang="fr-FR" dirty="0" err="1"/>
              <a:t>Vokabular</a:t>
            </a:r>
            <a:r>
              <a:rPr lang="fr-FR" dirty="0"/>
              <a:t> </a:t>
            </a:r>
            <a:r>
              <a:rPr lang="fr-FR" dirty="0" err="1"/>
              <a:t>hat</a:t>
            </a:r>
            <a:r>
              <a:rPr lang="fr-FR" dirty="0"/>
              <a:t> 92 </a:t>
            </a:r>
            <a:r>
              <a:rPr lang="fr-FR" dirty="0" err="1"/>
              <a:t>Zeichen</a:t>
            </a:r>
            <a:r>
              <a:rPr lang="fr-FR" dirty="0"/>
              <a:t>. Dann </a:t>
            </a:r>
            <a:r>
              <a:rPr lang="fr-FR" dirty="0" err="1"/>
              <a:t>erzeugen</a:t>
            </a:r>
            <a:r>
              <a:rPr lang="fr-FR" dirty="0"/>
              <a:t> </a:t>
            </a:r>
            <a:r>
              <a:rPr lang="fr-FR" dirty="0" err="1"/>
              <a:t>wir</a:t>
            </a:r>
            <a:r>
              <a:rPr lang="fr-FR" dirty="0"/>
              <a:t> </a:t>
            </a:r>
            <a:r>
              <a:rPr lang="fr-FR" dirty="0" err="1"/>
              <a:t>Trainingssequenzen</a:t>
            </a:r>
            <a:r>
              <a:rPr lang="fr-FR" dirty="0"/>
              <a:t> mit </a:t>
            </a:r>
            <a:r>
              <a:rPr lang="fr-FR" dirty="0" err="1"/>
              <a:t>einem</a:t>
            </a:r>
            <a:r>
              <a:rPr lang="fr-FR" dirty="0"/>
              <a:t> </a:t>
            </a:r>
            <a:r>
              <a:rPr lang="fr-FR" dirty="0" err="1"/>
              <a:t>gleitenden</a:t>
            </a:r>
            <a:r>
              <a:rPr lang="fr-FR" dirty="0"/>
              <a:t> Fenster der </a:t>
            </a:r>
            <a:r>
              <a:rPr lang="fr-FR" dirty="0" err="1"/>
              <a:t>Länge</a:t>
            </a:r>
            <a:r>
              <a:rPr lang="fr-FR" dirty="0"/>
              <a:t> 100, </a:t>
            </a:r>
            <a:r>
              <a:rPr lang="fr-FR" dirty="0" err="1"/>
              <a:t>Schritt</a:t>
            </a:r>
            <a:r>
              <a:rPr lang="fr-FR" dirty="0"/>
              <a:t> 50. Die </a:t>
            </a:r>
            <a:r>
              <a:rPr lang="fr-FR" dirty="0" err="1"/>
              <a:t>Zielsequenz</a:t>
            </a:r>
            <a:r>
              <a:rPr lang="fr-FR" dirty="0"/>
              <a:t> </a:t>
            </a:r>
            <a:r>
              <a:rPr lang="fr-FR" dirty="0" err="1"/>
              <a:t>ist</a:t>
            </a:r>
            <a:r>
              <a:rPr lang="fr-FR" dirty="0"/>
              <a:t> </a:t>
            </a:r>
            <a:r>
              <a:rPr lang="fr-FR" dirty="0" err="1"/>
              <a:t>immer</a:t>
            </a:r>
            <a:r>
              <a:rPr lang="fr-FR" dirty="0"/>
              <a:t> um </a:t>
            </a:r>
            <a:r>
              <a:rPr lang="fr-FR" dirty="0" err="1"/>
              <a:t>ein</a:t>
            </a:r>
            <a:r>
              <a:rPr lang="fr-FR" dirty="0"/>
              <a:t> </a:t>
            </a:r>
            <a:r>
              <a:rPr lang="fr-FR" dirty="0" err="1"/>
              <a:t>Zeichen</a:t>
            </a:r>
            <a:r>
              <a:rPr lang="fr-FR" dirty="0"/>
              <a:t> </a:t>
            </a:r>
            <a:r>
              <a:rPr lang="fr-FR" dirty="0" err="1"/>
              <a:t>verschoben</a:t>
            </a:r>
            <a:r>
              <a:rPr lang="fr-FR" dirty="0"/>
              <a:t> – </a:t>
            </a:r>
            <a:r>
              <a:rPr lang="fr-FR" dirty="0" err="1"/>
              <a:t>das</a:t>
            </a:r>
            <a:r>
              <a:rPr lang="fr-FR" dirty="0"/>
              <a:t> Modell </a:t>
            </a:r>
            <a:r>
              <a:rPr lang="fr-FR" dirty="0" err="1"/>
              <a:t>lernt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Next-Character-</a:t>
            </a:r>
            <a:r>
              <a:rPr lang="fr-FR" dirty="0" err="1"/>
              <a:t>Prediction</a:t>
            </a:r>
            <a:r>
              <a:rPr lang="fr-FR" dirty="0"/>
              <a:t>. Wir </a:t>
            </a:r>
            <a:r>
              <a:rPr lang="fr-FR" dirty="0" err="1"/>
              <a:t>splitten</a:t>
            </a:r>
            <a:r>
              <a:rPr lang="fr-FR" dirty="0"/>
              <a:t> in Train, Validation </a:t>
            </a:r>
            <a:r>
              <a:rPr lang="fr-FR" dirty="0" err="1"/>
              <a:t>und</a:t>
            </a:r>
            <a:r>
              <a:rPr lang="fr-FR" dirty="0"/>
              <a:t> Test mit 80/10/10. Das </a:t>
            </a:r>
            <a:r>
              <a:rPr lang="fr-FR" dirty="0" err="1"/>
              <a:t>steht</a:t>
            </a:r>
            <a:r>
              <a:rPr lang="fr-FR" dirty="0"/>
              <a:t> </a:t>
            </a:r>
            <a:r>
              <a:rPr lang="fr-FR" dirty="0" err="1"/>
              <a:t>im</a:t>
            </a:r>
            <a:r>
              <a:rPr lang="fr-FR" dirty="0"/>
              <a:t> Notebook </a:t>
            </a:r>
            <a:r>
              <a:rPr lang="fr-FR" dirty="0" err="1"/>
              <a:t>unter</a:t>
            </a:r>
            <a:r>
              <a:rPr lang="fr-FR" dirty="0"/>
              <a:t> </a:t>
            </a:r>
            <a:r>
              <a:rPr lang="fr-FR" dirty="0" err="1"/>
              <a:t>Abschnitt</a:t>
            </a:r>
            <a:r>
              <a:rPr lang="fr-FR" dirty="0"/>
              <a:t> 3.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▶ TOKENIZER</a:t>
            </a:r>
          </a:p>
          <a:p>
            <a:r>
              <a:rPr dirty="0"/>
              <a:t>"Wir </a:t>
            </a:r>
            <a:r>
              <a:rPr dirty="0" err="1"/>
              <a:t>benutzen</a:t>
            </a:r>
            <a:r>
              <a:rPr dirty="0"/>
              <a:t> </a:t>
            </a:r>
            <a:r>
              <a:rPr dirty="0" err="1"/>
              <a:t>einen</a:t>
            </a:r>
            <a:r>
              <a:rPr dirty="0"/>
              <a:t> Tokenizer auf </a:t>
            </a:r>
            <a:r>
              <a:rPr dirty="0" err="1"/>
              <a:t>Zeichen</a:t>
            </a:r>
            <a:r>
              <a:rPr dirty="0"/>
              <a:t>-Ebene: </a:t>
            </a:r>
            <a:r>
              <a:rPr dirty="0" err="1"/>
              <a:t>jedes</a:t>
            </a:r>
            <a:r>
              <a:rPr dirty="0"/>
              <a:t> </a:t>
            </a:r>
            <a:r>
              <a:rPr dirty="0" err="1"/>
              <a:t>einzelne</a:t>
            </a:r>
            <a:r>
              <a:rPr dirty="0"/>
              <a:t> </a:t>
            </a:r>
            <a:r>
              <a:rPr dirty="0" err="1"/>
              <a:t>Zeichen</a:t>
            </a:r>
            <a:endParaRPr dirty="0"/>
          </a:p>
          <a:p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Token. </a:t>
            </a:r>
            <a:r>
              <a:rPr dirty="0" err="1"/>
              <a:t>Vorteil</a:t>
            </a:r>
            <a:r>
              <a:rPr dirty="0"/>
              <a:t>: </a:t>
            </a:r>
            <a:r>
              <a:rPr dirty="0" err="1"/>
              <a:t>sehr</a:t>
            </a:r>
            <a:r>
              <a:rPr dirty="0"/>
              <a:t> </a:t>
            </a:r>
            <a:r>
              <a:rPr dirty="0" err="1"/>
              <a:t>einfach</a:t>
            </a:r>
            <a:r>
              <a:rPr dirty="0"/>
              <a:t>, und es </a:t>
            </a:r>
            <a:r>
              <a:rPr dirty="0" err="1"/>
              <a:t>gibt</a:t>
            </a:r>
            <a:r>
              <a:rPr dirty="0"/>
              <a:t> </a:t>
            </a:r>
            <a:r>
              <a:rPr dirty="0" err="1"/>
              <a:t>kein</a:t>
            </a:r>
            <a:r>
              <a:rPr dirty="0"/>
              <a:t> OOV-Problem –</a:t>
            </a:r>
          </a:p>
          <a:p>
            <a:r>
              <a:rPr dirty="0"/>
              <a:t>es </a:t>
            </a:r>
            <a:r>
              <a:rPr dirty="0" err="1"/>
              <a:t>kann</a:t>
            </a:r>
            <a:r>
              <a:rPr dirty="0"/>
              <a:t> also </a:t>
            </a:r>
            <a:r>
              <a:rPr dirty="0" err="1"/>
              <a:t>kein</a:t>
            </a:r>
            <a:r>
              <a:rPr dirty="0"/>
              <a:t> </a:t>
            </a:r>
            <a:r>
              <a:rPr dirty="0" err="1"/>
              <a:t>unbekanntes</a:t>
            </a:r>
            <a:r>
              <a:rPr dirty="0"/>
              <a:t> Wort </a:t>
            </a:r>
            <a:r>
              <a:rPr dirty="0" err="1"/>
              <a:t>auftauchen</a:t>
            </a:r>
            <a:r>
              <a:rPr dirty="0"/>
              <a:t>."</a:t>
            </a:r>
          </a:p>
          <a:p>
            <a:r>
              <a:rPr dirty="0"/>
              <a:t>• encode: Text → Zahlen-IDs   |   decode: IDs → Text</a:t>
            </a:r>
          </a:p>
          <a:p>
            <a:endParaRPr dirty="0"/>
          </a:p>
          <a:p>
            <a:r>
              <a:rPr dirty="0"/>
              <a:t>▶ GLEITENDES FENSTER (der Kern der </a:t>
            </a:r>
            <a:r>
              <a:rPr dirty="0" err="1"/>
              <a:t>Datenaufbereitung</a:t>
            </a:r>
            <a:r>
              <a:rPr dirty="0"/>
              <a:t>!)</a:t>
            </a:r>
          </a:p>
          <a:p>
            <a:r>
              <a:rPr dirty="0"/>
              <a:t>"Wir </a:t>
            </a:r>
            <a:r>
              <a:rPr dirty="0" err="1"/>
              <a:t>schieben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Fenster von 100 </a:t>
            </a:r>
            <a:r>
              <a:rPr dirty="0" err="1"/>
              <a:t>Zeichen</a:t>
            </a:r>
            <a:r>
              <a:rPr dirty="0"/>
              <a:t> </a:t>
            </a:r>
            <a:r>
              <a:rPr dirty="0" err="1"/>
              <a:t>über</a:t>
            </a:r>
            <a:r>
              <a:rPr dirty="0"/>
              <a:t> den Text,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Schrittweite</a:t>
            </a:r>
            <a:r>
              <a:rPr dirty="0"/>
              <a:t> 50.</a:t>
            </a:r>
          </a:p>
          <a:p>
            <a:r>
              <a:rPr dirty="0"/>
              <a:t>Das Ziel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exakt</a:t>
            </a:r>
            <a:r>
              <a:rPr dirty="0"/>
              <a:t> der Input, um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Zeichen</a:t>
            </a:r>
            <a:r>
              <a:rPr dirty="0"/>
              <a:t> </a:t>
            </a:r>
            <a:r>
              <a:rPr dirty="0" err="1"/>
              <a:t>nach</a:t>
            </a:r>
            <a:r>
              <a:rPr dirty="0"/>
              <a:t> </a:t>
            </a:r>
            <a:r>
              <a:rPr dirty="0" err="1"/>
              <a:t>rechts</a:t>
            </a:r>
            <a:r>
              <a:rPr dirty="0"/>
              <a:t> </a:t>
            </a:r>
            <a:r>
              <a:rPr dirty="0" err="1"/>
              <a:t>verschoben</a:t>
            </a:r>
            <a:r>
              <a:rPr dirty="0"/>
              <a:t>.</a:t>
            </a:r>
          </a:p>
          <a:p>
            <a:r>
              <a:rPr dirty="0"/>
              <a:t>An </a:t>
            </a:r>
            <a:r>
              <a:rPr dirty="0" err="1"/>
              <a:t>jeder</a:t>
            </a:r>
            <a:r>
              <a:rPr dirty="0"/>
              <a:t> Position </a:t>
            </a:r>
            <a:r>
              <a:rPr dirty="0" err="1"/>
              <a:t>soll</a:t>
            </a:r>
            <a:r>
              <a:rPr dirty="0"/>
              <a:t> das Modell also das </a:t>
            </a:r>
            <a:r>
              <a:rPr dirty="0" err="1"/>
              <a:t>nächste</a:t>
            </a:r>
            <a:r>
              <a:rPr dirty="0"/>
              <a:t> </a:t>
            </a:r>
            <a:r>
              <a:rPr dirty="0" err="1"/>
              <a:t>Zeichen</a:t>
            </a:r>
            <a:r>
              <a:rPr dirty="0"/>
              <a:t> </a:t>
            </a:r>
            <a:r>
              <a:rPr dirty="0" err="1"/>
              <a:t>vorhersagen</a:t>
            </a:r>
            <a:r>
              <a:rPr dirty="0"/>
              <a:t>."</a:t>
            </a:r>
          </a:p>
          <a:p>
            <a:endParaRPr dirty="0"/>
          </a:p>
          <a:p>
            <a:r>
              <a:rPr dirty="0"/>
              <a:t>▶ auf das </a:t>
            </a:r>
            <a:r>
              <a:rPr dirty="0" err="1"/>
              <a:t>Beispiel</a:t>
            </a:r>
            <a:r>
              <a:rPr dirty="0"/>
              <a:t> </a:t>
            </a:r>
            <a:r>
              <a:rPr dirty="0" err="1"/>
              <a:t>rechts</a:t>
            </a:r>
            <a:r>
              <a:rPr dirty="0"/>
              <a:t> </a:t>
            </a:r>
            <a:r>
              <a:rPr dirty="0" err="1"/>
              <a:t>zeigen</a:t>
            </a:r>
            <a:r>
              <a:rPr dirty="0"/>
              <a:t>:</a:t>
            </a:r>
          </a:p>
          <a:p>
            <a:r>
              <a:rPr dirty="0"/>
              <a:t>Input "K:D\n|:A2B c2d"  →  Ziel ":D\n|:A2B c2d|e"</a:t>
            </a:r>
          </a:p>
          <a:p>
            <a:endParaRPr dirty="0"/>
          </a:p>
          <a:p>
            <a:r>
              <a:rPr dirty="0"/>
              <a:t>💡 Das </a:t>
            </a:r>
            <a:r>
              <a:rPr dirty="0" err="1"/>
              <a:t>ist</a:t>
            </a:r>
            <a:r>
              <a:rPr dirty="0"/>
              <a:t> der </a:t>
            </a:r>
            <a:r>
              <a:rPr dirty="0" err="1"/>
              <a:t>Begriff</a:t>
            </a:r>
            <a:r>
              <a:rPr dirty="0"/>
              <a:t>, den man </a:t>
            </a:r>
            <a:r>
              <a:rPr dirty="0" err="1"/>
              <a:t>hören</a:t>
            </a:r>
            <a:r>
              <a:rPr dirty="0"/>
              <a:t> will: NEXT-TOKEN-PREDICTION.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▶ DIE DREI BAUSTEINE (dem Pfeil-</a:t>
            </a:r>
            <a:r>
              <a:rPr dirty="0" err="1"/>
              <a:t>Diagramm</a:t>
            </a:r>
            <a:r>
              <a:rPr dirty="0"/>
              <a:t> </a:t>
            </a:r>
            <a:r>
              <a:rPr dirty="0" err="1"/>
              <a:t>folgen</a:t>
            </a:r>
            <a:r>
              <a:rPr dirty="0"/>
              <a:t>)</a:t>
            </a:r>
          </a:p>
          <a:p>
            <a:r>
              <a:rPr lang="fr-FR" dirty="0"/>
              <a:t>In </a:t>
            </a:r>
            <a:r>
              <a:rPr lang="fr-FR" dirty="0" err="1"/>
              <a:t>Task</a:t>
            </a:r>
            <a:r>
              <a:rPr lang="fr-FR" dirty="0"/>
              <a:t> 2 </a:t>
            </a:r>
            <a:r>
              <a:rPr lang="fr-FR" dirty="0" err="1"/>
              <a:t>implementieren</a:t>
            </a:r>
            <a:r>
              <a:rPr lang="fr-FR" dirty="0"/>
              <a:t> </a:t>
            </a:r>
            <a:r>
              <a:rPr lang="fr-FR" dirty="0" err="1"/>
              <a:t>wir</a:t>
            </a:r>
            <a:r>
              <a:rPr lang="fr-FR" dirty="0"/>
              <a:t> die Klasse 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MusikRNN</a:t>
            </a:r>
            <a:r>
              <a:rPr lang="fr-FR" dirty="0"/>
              <a:t>. Aufbau </a:t>
            </a:r>
            <a:r>
              <a:rPr lang="fr-FR" dirty="0" err="1"/>
              <a:t>wie</a:t>
            </a:r>
            <a:r>
              <a:rPr lang="fr-FR" dirty="0"/>
              <a:t> in </a:t>
            </a:r>
            <a:r>
              <a:rPr lang="fr-FR" dirty="0" err="1"/>
              <a:t>Vorlesung</a:t>
            </a:r>
            <a:r>
              <a:rPr lang="fr-FR" dirty="0"/>
              <a:t> 8/9: </a:t>
            </a:r>
            <a:r>
              <a:rPr lang="fr-FR" dirty="0" err="1"/>
              <a:t>zuerst</a:t>
            </a:r>
            <a:r>
              <a:rPr lang="fr-FR" dirty="0"/>
              <a:t> </a:t>
            </a:r>
            <a:r>
              <a:rPr lang="fr-FR" dirty="0" err="1"/>
              <a:t>Embedding</a:t>
            </a:r>
            <a:r>
              <a:rPr lang="fr-FR" dirty="0"/>
              <a:t>, </a:t>
            </a:r>
            <a:r>
              <a:rPr lang="fr-FR" dirty="0" err="1"/>
              <a:t>dann</a:t>
            </a:r>
            <a:r>
              <a:rPr lang="fr-FR" dirty="0"/>
              <a:t> </a:t>
            </a:r>
            <a:r>
              <a:rPr lang="fr-FR" dirty="0" err="1"/>
              <a:t>ein</a:t>
            </a:r>
            <a:r>
              <a:rPr lang="fr-FR" dirty="0"/>
              <a:t> </a:t>
            </a:r>
            <a:r>
              <a:rPr lang="fr-FR" dirty="0" err="1"/>
              <a:t>rekurrentes</a:t>
            </a:r>
            <a:r>
              <a:rPr lang="fr-FR" dirty="0"/>
              <a:t> Netz – </a:t>
            </a:r>
            <a:r>
              <a:rPr lang="fr-FR" dirty="0" err="1"/>
              <a:t>bei</a:t>
            </a:r>
            <a:r>
              <a:rPr lang="fr-FR" dirty="0"/>
              <a:t> uns LSTM mit Hidden Size 256 </a:t>
            </a:r>
            <a:r>
              <a:rPr lang="fr-FR" dirty="0" err="1"/>
              <a:t>und</a:t>
            </a:r>
            <a:r>
              <a:rPr lang="fr-FR" dirty="0"/>
              <a:t> 2 </a:t>
            </a:r>
            <a:r>
              <a:rPr lang="fr-FR" dirty="0" err="1"/>
              <a:t>Layern</a:t>
            </a:r>
            <a:r>
              <a:rPr lang="fr-FR" dirty="0"/>
              <a:t> – </a:t>
            </a:r>
            <a:r>
              <a:rPr lang="fr-FR" dirty="0" err="1"/>
              <a:t>und</a:t>
            </a:r>
            <a:r>
              <a:rPr lang="fr-FR" dirty="0"/>
              <a:t> </a:t>
            </a:r>
            <a:r>
              <a:rPr lang="fr-FR" dirty="0" err="1"/>
              <a:t>zum</a:t>
            </a:r>
            <a:r>
              <a:rPr lang="fr-FR" dirty="0"/>
              <a:t> </a:t>
            </a:r>
            <a:r>
              <a:rPr lang="fr-FR" dirty="0" err="1"/>
              <a:t>Schluss</a:t>
            </a:r>
            <a:r>
              <a:rPr lang="fr-FR" dirty="0"/>
              <a:t> </a:t>
            </a:r>
            <a:r>
              <a:rPr lang="fr-FR" dirty="0" err="1"/>
              <a:t>eine</a:t>
            </a:r>
            <a:r>
              <a:rPr lang="fr-FR" dirty="0"/>
              <a:t> Linear-</a:t>
            </a:r>
            <a:r>
              <a:rPr lang="fr-FR" dirty="0" err="1"/>
              <a:t>Schicht</a:t>
            </a:r>
            <a:r>
              <a:rPr lang="fr-FR" dirty="0"/>
              <a:t> </a:t>
            </a:r>
            <a:r>
              <a:rPr lang="fr-FR" dirty="0" err="1"/>
              <a:t>auf</a:t>
            </a:r>
            <a:r>
              <a:rPr lang="fr-FR" dirty="0"/>
              <a:t> </a:t>
            </a:r>
            <a:r>
              <a:rPr lang="fr-FR" dirty="0" err="1"/>
              <a:t>das</a:t>
            </a:r>
            <a:r>
              <a:rPr lang="fr-FR" dirty="0"/>
              <a:t> </a:t>
            </a:r>
            <a:r>
              <a:rPr lang="fr-FR" dirty="0" err="1"/>
              <a:t>Vokabular</a:t>
            </a:r>
            <a:r>
              <a:rPr lang="fr-FR" dirty="0"/>
              <a:t>. So </a:t>
            </a:r>
            <a:r>
              <a:rPr lang="fr-FR" dirty="0" err="1"/>
              <a:t>bekommt</a:t>
            </a:r>
            <a:r>
              <a:rPr lang="fr-FR" dirty="0"/>
              <a:t> </a:t>
            </a:r>
            <a:r>
              <a:rPr lang="fr-FR" dirty="0" err="1"/>
              <a:t>jede</a:t>
            </a:r>
            <a:r>
              <a:rPr lang="fr-FR" dirty="0"/>
              <a:t> Position </a:t>
            </a:r>
            <a:r>
              <a:rPr lang="fr-FR" dirty="0" err="1"/>
              <a:t>Logits</a:t>
            </a:r>
            <a:r>
              <a:rPr lang="fr-FR" dirty="0"/>
              <a:t> </a:t>
            </a:r>
            <a:r>
              <a:rPr lang="fr-FR" dirty="0" err="1"/>
              <a:t>für</a:t>
            </a:r>
            <a:r>
              <a:rPr lang="fr-FR" dirty="0"/>
              <a:t> </a:t>
            </a:r>
            <a:r>
              <a:rPr lang="fr-FR" dirty="0" err="1"/>
              <a:t>alle</a:t>
            </a:r>
            <a:r>
              <a:rPr lang="fr-FR" dirty="0"/>
              <a:t> 92 </a:t>
            </a:r>
            <a:r>
              <a:rPr lang="fr-FR" dirty="0" err="1"/>
              <a:t>Zeichen</a:t>
            </a:r>
            <a:r>
              <a:rPr lang="fr-FR" dirty="0"/>
              <a:t>. </a:t>
            </a:r>
            <a:r>
              <a:rPr lang="fr-FR" dirty="0" err="1"/>
              <a:t>Über</a:t>
            </a:r>
            <a:r>
              <a:rPr lang="fr-FR" dirty="0"/>
              <a:t> den </a:t>
            </a:r>
            <a:r>
              <a:rPr lang="fr-FR" dirty="0" err="1"/>
              <a:t>Parameter</a:t>
            </a:r>
            <a:r>
              <a:rPr lang="fr-FR" dirty="0"/>
              <a:t> 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rnn_typ</a:t>
            </a:r>
            <a:r>
              <a:rPr lang="fr-FR" dirty="0"/>
              <a:t> </a:t>
            </a:r>
            <a:r>
              <a:rPr lang="fr-FR" dirty="0" err="1"/>
              <a:t>können</a:t>
            </a:r>
            <a:r>
              <a:rPr lang="fr-FR" dirty="0"/>
              <a:t> </a:t>
            </a:r>
            <a:r>
              <a:rPr lang="fr-FR" dirty="0" err="1"/>
              <a:t>wir</a:t>
            </a:r>
            <a:r>
              <a:rPr lang="fr-FR" dirty="0"/>
              <a:t> </a:t>
            </a:r>
            <a:r>
              <a:rPr lang="fr-FR" dirty="0" err="1"/>
              <a:t>auch</a:t>
            </a:r>
            <a:r>
              <a:rPr lang="fr-FR" dirty="0"/>
              <a:t> GRU </a:t>
            </a:r>
            <a:r>
              <a:rPr lang="fr-FR" dirty="0" err="1"/>
              <a:t>oder</a:t>
            </a:r>
            <a:r>
              <a:rPr lang="fr-FR" dirty="0"/>
              <a:t> RNN </a:t>
            </a:r>
            <a:r>
              <a:rPr lang="fr-FR" dirty="0" err="1"/>
              <a:t>wählen</a:t>
            </a:r>
            <a:r>
              <a:rPr lang="fr-FR" dirty="0"/>
              <a:t>. Das Modell </a:t>
            </a:r>
            <a:r>
              <a:rPr lang="fr-FR" dirty="0" err="1"/>
              <a:t>hat</a:t>
            </a:r>
            <a:r>
              <a:rPr lang="fr-FR" dirty="0"/>
              <a:t> </a:t>
            </a:r>
            <a:r>
              <a:rPr lang="fr-FR" dirty="0" err="1"/>
              <a:t>etwa</a:t>
            </a:r>
            <a:r>
              <a:rPr lang="fr-FR" dirty="0"/>
              <a:t> 886 000 </a:t>
            </a:r>
            <a:r>
              <a:rPr lang="fr-FR" dirty="0" err="1"/>
              <a:t>Parameter</a:t>
            </a:r>
            <a:r>
              <a:rPr lang="fr-FR" dirty="0"/>
              <a:t>. </a:t>
            </a:r>
            <a:r>
              <a:rPr lang="fr-FR" dirty="0" err="1"/>
              <a:t>Siehe</a:t>
            </a:r>
            <a:r>
              <a:rPr lang="fr-FR" dirty="0"/>
              <a:t> Notebook </a:t>
            </a:r>
            <a:r>
              <a:rPr lang="fr-FR" dirty="0" err="1"/>
              <a:t>Abschnitt</a:t>
            </a:r>
            <a:r>
              <a:rPr lang="fr-FR" dirty="0"/>
              <a:t> </a:t>
            </a:r>
          </a:p>
          <a:p>
            <a:r>
              <a:rPr lang="fr-FR" dirty="0"/>
              <a:t>4.</a:t>
            </a:r>
            <a:r>
              <a:rPr dirty="0"/>
              <a:t>1) EMBEDDING (64 </a:t>
            </a:r>
            <a:r>
              <a:rPr dirty="0" err="1"/>
              <a:t>Dimensionen</a:t>
            </a:r>
            <a:r>
              <a:rPr dirty="0"/>
              <a:t>)</a:t>
            </a:r>
          </a:p>
          <a:p>
            <a:r>
              <a:rPr dirty="0"/>
              <a:t>"Eine </a:t>
            </a:r>
            <a:r>
              <a:rPr dirty="0" err="1"/>
              <a:t>reine</a:t>
            </a:r>
            <a:r>
              <a:rPr dirty="0"/>
              <a:t> ID </a:t>
            </a:r>
            <a:r>
              <a:rPr dirty="0" err="1"/>
              <a:t>sagt</a:t>
            </a:r>
            <a:r>
              <a:rPr dirty="0"/>
              <a:t> </a:t>
            </a:r>
            <a:r>
              <a:rPr dirty="0" err="1"/>
              <a:t>nichts</a:t>
            </a:r>
            <a:r>
              <a:rPr dirty="0"/>
              <a:t> </a:t>
            </a:r>
            <a:r>
              <a:rPr dirty="0" err="1"/>
              <a:t>darüber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, </a:t>
            </a:r>
            <a:r>
              <a:rPr dirty="0" err="1"/>
              <a:t>ob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</a:t>
            </a:r>
            <a:r>
              <a:rPr dirty="0" err="1"/>
              <a:t>zwei</a:t>
            </a:r>
            <a:r>
              <a:rPr dirty="0"/>
              <a:t> </a:t>
            </a:r>
            <a:r>
              <a:rPr dirty="0" err="1"/>
              <a:t>Zeichen</a:t>
            </a:r>
            <a:r>
              <a:rPr dirty="0"/>
              <a:t> </a:t>
            </a:r>
            <a:r>
              <a:rPr dirty="0" err="1"/>
              <a:t>ähnlich</a:t>
            </a:r>
            <a:endParaRPr dirty="0"/>
          </a:p>
          <a:p>
            <a:r>
              <a:rPr dirty="0" err="1"/>
              <a:t>verhalten</a:t>
            </a:r>
            <a:r>
              <a:rPr dirty="0"/>
              <a:t>. Das Embedding </a:t>
            </a:r>
            <a:r>
              <a:rPr dirty="0" err="1"/>
              <a:t>macht</a:t>
            </a:r>
            <a:r>
              <a:rPr dirty="0"/>
              <a:t> </a:t>
            </a:r>
            <a:r>
              <a:rPr dirty="0" err="1"/>
              <a:t>daraus</a:t>
            </a:r>
            <a:r>
              <a:rPr dirty="0"/>
              <a:t> </a:t>
            </a:r>
            <a:r>
              <a:rPr dirty="0" err="1"/>
              <a:t>einen</a:t>
            </a:r>
            <a:r>
              <a:rPr dirty="0"/>
              <a:t> </a:t>
            </a:r>
            <a:r>
              <a:rPr dirty="0" err="1"/>
              <a:t>gelernten</a:t>
            </a:r>
            <a:r>
              <a:rPr dirty="0"/>
              <a:t> Vektor, </a:t>
            </a:r>
            <a:r>
              <a:rPr dirty="0" err="1"/>
              <a:t>sodass</a:t>
            </a:r>
            <a:endParaRPr dirty="0"/>
          </a:p>
          <a:p>
            <a:r>
              <a:rPr dirty="0" err="1"/>
              <a:t>musikalisch</a:t>
            </a:r>
            <a:r>
              <a:rPr dirty="0"/>
              <a:t> </a:t>
            </a:r>
            <a:r>
              <a:rPr dirty="0" err="1"/>
              <a:t>ähnliche</a:t>
            </a:r>
            <a:r>
              <a:rPr dirty="0"/>
              <a:t> </a:t>
            </a:r>
            <a:r>
              <a:rPr dirty="0" err="1"/>
              <a:t>Zeichen</a:t>
            </a:r>
            <a:r>
              <a:rPr dirty="0"/>
              <a:t> </a:t>
            </a:r>
            <a:r>
              <a:rPr dirty="0" err="1"/>
              <a:t>ähnliche</a:t>
            </a:r>
            <a:r>
              <a:rPr dirty="0"/>
              <a:t> </a:t>
            </a:r>
            <a:r>
              <a:rPr dirty="0" err="1"/>
              <a:t>Vektoren</a:t>
            </a:r>
            <a:r>
              <a:rPr dirty="0"/>
              <a:t> </a:t>
            </a:r>
            <a:r>
              <a:rPr dirty="0" err="1"/>
              <a:t>bekommen</a:t>
            </a:r>
            <a:r>
              <a:rPr dirty="0"/>
              <a:t>."</a:t>
            </a:r>
          </a:p>
          <a:p>
            <a:endParaRPr dirty="0"/>
          </a:p>
          <a:p>
            <a:r>
              <a:rPr dirty="0"/>
              <a:t>2) LSTM (2 </a:t>
            </a:r>
            <a:r>
              <a:rPr dirty="0" err="1"/>
              <a:t>Schichten</a:t>
            </a:r>
            <a:r>
              <a:rPr dirty="0"/>
              <a:t> à 256)</a:t>
            </a:r>
          </a:p>
          <a:p>
            <a:r>
              <a:rPr dirty="0"/>
              <a:t>"Das LSTM </a:t>
            </a:r>
            <a:r>
              <a:rPr dirty="0" err="1"/>
              <a:t>verarbeitet</a:t>
            </a:r>
            <a:r>
              <a:rPr dirty="0"/>
              <a:t> die </a:t>
            </a:r>
            <a:r>
              <a:rPr dirty="0" err="1"/>
              <a:t>Sequenz</a:t>
            </a:r>
            <a:r>
              <a:rPr dirty="0"/>
              <a:t> Schritt für Schritt. Der Hidden State</a:t>
            </a:r>
          </a:p>
          <a:p>
            <a:r>
              <a:rPr dirty="0" err="1"/>
              <a:t>ist</a:t>
            </a:r>
            <a:r>
              <a:rPr dirty="0"/>
              <a:t> sein </a:t>
            </a:r>
            <a:r>
              <a:rPr dirty="0" err="1"/>
              <a:t>Gedächtnis</a:t>
            </a:r>
            <a:r>
              <a:rPr dirty="0"/>
              <a:t>: er </a:t>
            </a:r>
            <a:r>
              <a:rPr dirty="0" err="1"/>
              <a:t>fasst</a:t>
            </a:r>
            <a:r>
              <a:rPr dirty="0"/>
              <a:t> </a:t>
            </a:r>
            <a:r>
              <a:rPr dirty="0" err="1"/>
              <a:t>alles</a:t>
            </a:r>
            <a:r>
              <a:rPr dirty="0"/>
              <a:t> </a:t>
            </a:r>
            <a:r>
              <a:rPr dirty="0" err="1"/>
              <a:t>zusammen</a:t>
            </a:r>
            <a:r>
              <a:rPr dirty="0"/>
              <a:t>, was </a:t>
            </a:r>
            <a:r>
              <a:rPr dirty="0" err="1"/>
              <a:t>bisher</a:t>
            </a:r>
            <a:r>
              <a:rPr dirty="0"/>
              <a:t> </a:t>
            </a:r>
            <a:r>
              <a:rPr dirty="0" err="1"/>
              <a:t>gelesen</a:t>
            </a:r>
            <a:r>
              <a:rPr dirty="0"/>
              <a:t> </a:t>
            </a:r>
            <a:r>
              <a:rPr dirty="0" err="1"/>
              <a:t>wurde</a:t>
            </a:r>
            <a:r>
              <a:rPr dirty="0"/>
              <a:t>."</a:t>
            </a:r>
          </a:p>
          <a:p>
            <a:endParaRPr dirty="0"/>
          </a:p>
          <a:p>
            <a:r>
              <a:rPr dirty="0"/>
              <a:t>3) LINEAR (→ 92 Logits) + </a:t>
            </a:r>
            <a:r>
              <a:rPr dirty="0" err="1"/>
              <a:t>Softmax</a:t>
            </a:r>
            <a:endParaRPr dirty="0"/>
          </a:p>
          <a:p>
            <a:r>
              <a:rPr dirty="0"/>
              <a:t>"Die Linear-</a:t>
            </a:r>
            <a:r>
              <a:rPr dirty="0" err="1"/>
              <a:t>Schicht</a:t>
            </a:r>
            <a:r>
              <a:rPr dirty="0"/>
              <a:t> </a:t>
            </a:r>
            <a:r>
              <a:rPr dirty="0" err="1"/>
              <a:t>gibt</a:t>
            </a:r>
            <a:r>
              <a:rPr dirty="0"/>
              <a:t> für </a:t>
            </a:r>
            <a:r>
              <a:rPr dirty="0" err="1"/>
              <a:t>jedes</a:t>
            </a:r>
            <a:r>
              <a:rPr dirty="0"/>
              <a:t> der 92 </a:t>
            </a:r>
            <a:r>
              <a:rPr dirty="0" err="1"/>
              <a:t>Zeichen</a:t>
            </a:r>
            <a:r>
              <a:rPr dirty="0"/>
              <a:t> </a:t>
            </a:r>
            <a:r>
              <a:rPr dirty="0" err="1"/>
              <a:t>einen</a:t>
            </a:r>
            <a:r>
              <a:rPr dirty="0"/>
              <a:t> Score </a:t>
            </a:r>
            <a:r>
              <a:rPr dirty="0" err="1"/>
              <a:t>aus</a:t>
            </a:r>
            <a:r>
              <a:rPr dirty="0"/>
              <a:t>,</a:t>
            </a:r>
          </a:p>
          <a:p>
            <a:r>
              <a:rPr dirty="0" err="1"/>
              <a:t>Softmax</a:t>
            </a:r>
            <a:r>
              <a:rPr dirty="0"/>
              <a:t> </a:t>
            </a:r>
            <a:r>
              <a:rPr dirty="0" err="1"/>
              <a:t>macht</a:t>
            </a:r>
            <a:r>
              <a:rPr dirty="0"/>
              <a:t> </a:t>
            </a:r>
            <a:r>
              <a:rPr dirty="0" err="1"/>
              <a:t>daraus</a:t>
            </a:r>
            <a:r>
              <a:rPr dirty="0"/>
              <a:t> </a:t>
            </a:r>
            <a:r>
              <a:rPr dirty="0" err="1"/>
              <a:t>Wahrscheinlichkeiten</a:t>
            </a:r>
            <a:r>
              <a:rPr dirty="0"/>
              <a:t>."</a:t>
            </a:r>
          </a:p>
          <a:p>
            <a:endParaRPr dirty="0"/>
          </a:p>
          <a:p>
            <a:r>
              <a:rPr dirty="0"/>
              <a:t>📊 885.596 Parameter</a:t>
            </a:r>
          </a:p>
          <a:p>
            <a:endParaRPr dirty="0"/>
          </a:p>
          <a:p>
            <a:r>
              <a:rPr dirty="0"/>
              <a:t>❓ FALLS GEFRAGT "</a:t>
            </a:r>
            <a:r>
              <a:rPr dirty="0" err="1"/>
              <a:t>Warum</a:t>
            </a:r>
            <a:r>
              <a:rPr dirty="0"/>
              <a:t> LSTM und nicht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einfaches</a:t>
            </a:r>
            <a:r>
              <a:rPr dirty="0"/>
              <a:t> RNN?"</a:t>
            </a:r>
          </a:p>
          <a:p>
            <a:r>
              <a:rPr dirty="0"/>
              <a:t>"Ein </a:t>
            </a:r>
            <a:r>
              <a:rPr dirty="0" err="1"/>
              <a:t>einfaches</a:t>
            </a:r>
            <a:r>
              <a:rPr dirty="0"/>
              <a:t> RNN </a:t>
            </a:r>
            <a:r>
              <a:rPr dirty="0" err="1"/>
              <a:t>leidet</a:t>
            </a:r>
            <a:r>
              <a:rPr dirty="0"/>
              <a:t> </a:t>
            </a:r>
            <a:r>
              <a:rPr dirty="0" err="1"/>
              <a:t>beim</a:t>
            </a:r>
            <a:r>
              <a:rPr dirty="0"/>
              <a:t> Training am Vanishing-Gradient-Problem:</a:t>
            </a:r>
          </a:p>
          <a:p>
            <a:r>
              <a:rPr dirty="0"/>
              <a:t>Das </a:t>
            </a:r>
            <a:r>
              <a:rPr dirty="0" err="1"/>
              <a:t>Lernsignal</a:t>
            </a:r>
            <a:r>
              <a:rPr dirty="0"/>
              <a:t> </a:t>
            </a:r>
            <a:r>
              <a:rPr dirty="0" err="1"/>
              <a:t>verblasst</a:t>
            </a:r>
            <a:r>
              <a:rPr dirty="0"/>
              <a:t> </a:t>
            </a:r>
            <a:r>
              <a:rPr dirty="0" err="1"/>
              <a:t>über</a:t>
            </a:r>
            <a:r>
              <a:rPr dirty="0"/>
              <a:t> </a:t>
            </a:r>
            <a:r>
              <a:rPr dirty="0" err="1"/>
              <a:t>lange</a:t>
            </a:r>
            <a:r>
              <a:rPr dirty="0"/>
              <a:t> </a:t>
            </a:r>
            <a:r>
              <a:rPr dirty="0" err="1"/>
              <a:t>Sequenzen</a:t>
            </a:r>
            <a:r>
              <a:rPr dirty="0"/>
              <a:t>. Das LSTM </a:t>
            </a:r>
            <a:r>
              <a:rPr dirty="0" err="1"/>
              <a:t>löst</a:t>
            </a:r>
            <a:r>
              <a:rPr dirty="0"/>
              <a:t> das </a:t>
            </a:r>
            <a:r>
              <a:rPr dirty="0" err="1"/>
              <a:t>mit</a:t>
            </a:r>
            <a:endParaRPr dirty="0"/>
          </a:p>
          <a:p>
            <a:r>
              <a:rPr dirty="0"/>
              <a:t>seinen Gates und </a:t>
            </a:r>
            <a:r>
              <a:rPr dirty="0" err="1"/>
              <a:t>einem</a:t>
            </a:r>
            <a:r>
              <a:rPr dirty="0"/>
              <a:t> Cell State, der die </a:t>
            </a:r>
            <a:r>
              <a:rPr dirty="0" err="1"/>
              <a:t>Sequenz</a:t>
            </a:r>
            <a:r>
              <a:rPr dirty="0"/>
              <a:t> </a:t>
            </a:r>
            <a:r>
              <a:rPr dirty="0" err="1"/>
              <a:t>durchläuft</a:t>
            </a:r>
            <a:r>
              <a:rPr dirty="0"/>
              <a:t>, </a:t>
            </a:r>
            <a:r>
              <a:rPr dirty="0" err="1"/>
              <a:t>ohne</a:t>
            </a:r>
            <a:endParaRPr dirty="0"/>
          </a:p>
          <a:p>
            <a:r>
              <a:rPr dirty="0" err="1"/>
              <a:t>bei</a:t>
            </a:r>
            <a:r>
              <a:rPr dirty="0"/>
              <a:t> </a:t>
            </a:r>
            <a:r>
              <a:rPr dirty="0" err="1"/>
              <a:t>jedem</a:t>
            </a:r>
            <a:r>
              <a:rPr dirty="0"/>
              <a:t> Schritt </a:t>
            </a:r>
            <a:r>
              <a:rPr dirty="0" err="1"/>
              <a:t>verfälscht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werden</a:t>
            </a:r>
            <a:r>
              <a:rPr dirty="0"/>
              <a:t>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▶ SAGEN</a:t>
            </a:r>
            <a:endParaRPr lang="fr-FR" dirty="0"/>
          </a:p>
          <a:p>
            <a:r>
              <a:rPr lang="fr-FR" dirty="0"/>
              <a:t>In </a:t>
            </a:r>
            <a:r>
              <a:rPr lang="fr-FR" dirty="0" err="1"/>
              <a:t>Task</a:t>
            </a:r>
            <a:r>
              <a:rPr lang="fr-FR" dirty="0"/>
              <a:t> 3 </a:t>
            </a:r>
            <a:r>
              <a:rPr lang="fr-FR" dirty="0" err="1"/>
              <a:t>trainieren</a:t>
            </a:r>
            <a:r>
              <a:rPr lang="fr-FR" dirty="0"/>
              <a:t> </a:t>
            </a:r>
            <a:r>
              <a:rPr lang="fr-FR" dirty="0" err="1"/>
              <a:t>wir</a:t>
            </a:r>
            <a:r>
              <a:rPr lang="fr-FR" dirty="0"/>
              <a:t> mit </a:t>
            </a:r>
            <a:r>
              <a:rPr lang="fr-FR" dirty="0" err="1"/>
              <a:t>CrossEntropyLoss</a:t>
            </a:r>
            <a:r>
              <a:rPr lang="fr-FR" dirty="0"/>
              <a:t> </a:t>
            </a:r>
            <a:r>
              <a:rPr lang="fr-FR" dirty="0" err="1"/>
              <a:t>und</a:t>
            </a:r>
            <a:r>
              <a:rPr lang="fr-FR" dirty="0"/>
              <a:t> Adam. Pro </a:t>
            </a:r>
            <a:r>
              <a:rPr lang="fr-FR" dirty="0" err="1"/>
              <a:t>Epoche</a:t>
            </a:r>
            <a:r>
              <a:rPr lang="fr-FR" dirty="0"/>
              <a:t> </a:t>
            </a:r>
            <a:r>
              <a:rPr lang="fr-FR" dirty="0" err="1"/>
              <a:t>berechnen</a:t>
            </a:r>
            <a:r>
              <a:rPr lang="fr-FR" dirty="0"/>
              <a:t> </a:t>
            </a:r>
            <a:r>
              <a:rPr lang="fr-FR" dirty="0" err="1"/>
              <a:t>wir</a:t>
            </a:r>
            <a:r>
              <a:rPr lang="fr-FR" dirty="0"/>
              <a:t> Loss </a:t>
            </a:r>
            <a:r>
              <a:rPr lang="fr-FR" dirty="0" err="1"/>
              <a:t>sowie</a:t>
            </a:r>
            <a:r>
              <a:rPr lang="fr-FR" dirty="0"/>
              <a:t> Top-1 </a:t>
            </a:r>
            <a:r>
              <a:rPr lang="fr-FR" dirty="0" err="1"/>
              <a:t>und</a:t>
            </a:r>
            <a:r>
              <a:rPr lang="fr-FR" dirty="0"/>
              <a:t> Top-5 </a:t>
            </a:r>
            <a:r>
              <a:rPr lang="fr-FR" dirty="0" err="1"/>
              <a:t>Accuracy</a:t>
            </a:r>
            <a:r>
              <a:rPr lang="fr-FR" dirty="0"/>
              <a:t> </a:t>
            </a:r>
            <a:r>
              <a:rPr lang="fr-FR" dirty="0" err="1"/>
              <a:t>und</a:t>
            </a:r>
            <a:r>
              <a:rPr lang="fr-FR" dirty="0"/>
              <a:t> </a:t>
            </a:r>
            <a:r>
              <a:rPr lang="fr-FR" dirty="0" err="1"/>
              <a:t>loggen</a:t>
            </a:r>
            <a:r>
              <a:rPr lang="fr-FR" dirty="0"/>
              <a:t> alles </a:t>
            </a:r>
            <a:r>
              <a:rPr lang="fr-FR" dirty="0" err="1"/>
              <a:t>nach</a:t>
            </a:r>
            <a:r>
              <a:rPr lang="fr-FR" dirty="0"/>
              <a:t> </a:t>
            </a:r>
            <a:r>
              <a:rPr lang="fr-FR" dirty="0" err="1"/>
              <a:t>Weights</a:t>
            </a:r>
            <a:r>
              <a:rPr lang="fr-FR" dirty="0"/>
              <a:t> &amp; </a:t>
            </a:r>
            <a:r>
              <a:rPr lang="fr-FR" dirty="0" err="1"/>
              <a:t>Biases</a:t>
            </a:r>
            <a:r>
              <a:rPr lang="fr-FR" dirty="0"/>
              <a:t>. Wir </a:t>
            </a:r>
            <a:r>
              <a:rPr lang="fr-FR" dirty="0" err="1"/>
              <a:t>trainieren</a:t>
            </a:r>
            <a:r>
              <a:rPr lang="fr-FR" dirty="0"/>
              <a:t> 10 </a:t>
            </a:r>
            <a:r>
              <a:rPr lang="fr-FR" dirty="0" err="1"/>
              <a:t>Epochen</a:t>
            </a:r>
            <a:r>
              <a:rPr lang="fr-FR" dirty="0"/>
              <a:t> </a:t>
            </a:r>
            <a:r>
              <a:rPr lang="fr-FR" dirty="0" err="1"/>
              <a:t>auf</a:t>
            </a:r>
            <a:r>
              <a:rPr lang="fr-FR" dirty="0"/>
              <a:t> der GPU. Die Loss </a:t>
            </a:r>
            <a:r>
              <a:rPr lang="fr-FR" dirty="0" err="1"/>
              <a:t>fällt</a:t>
            </a:r>
            <a:r>
              <a:rPr lang="fr-FR" dirty="0"/>
              <a:t> </a:t>
            </a:r>
            <a:r>
              <a:rPr lang="fr-FR" dirty="0" err="1"/>
              <a:t>klar</a:t>
            </a:r>
            <a:r>
              <a:rPr lang="fr-FR" dirty="0"/>
              <a:t>, </a:t>
            </a:r>
            <a:r>
              <a:rPr lang="fr-FR" dirty="0" err="1"/>
              <a:t>und</a:t>
            </a:r>
            <a:r>
              <a:rPr lang="fr-FR" dirty="0"/>
              <a:t> die Validation-</a:t>
            </a:r>
            <a:r>
              <a:rPr lang="fr-FR" dirty="0" err="1"/>
              <a:t>Accuracy</a:t>
            </a:r>
            <a:r>
              <a:rPr lang="fr-FR" dirty="0"/>
              <a:t> </a:t>
            </a:r>
            <a:r>
              <a:rPr lang="fr-FR" dirty="0" err="1"/>
              <a:t>steigt</a:t>
            </a:r>
            <a:r>
              <a:rPr lang="fr-FR" dirty="0"/>
              <a:t> – </a:t>
            </a:r>
            <a:r>
              <a:rPr lang="fr-FR" dirty="0" err="1"/>
              <a:t>zum</a:t>
            </a:r>
            <a:r>
              <a:rPr lang="fr-FR" dirty="0"/>
              <a:t> </a:t>
            </a:r>
            <a:r>
              <a:rPr lang="fr-FR" dirty="0" err="1"/>
              <a:t>Beispiel</a:t>
            </a:r>
            <a:r>
              <a:rPr lang="fr-FR" dirty="0"/>
              <a:t> Val Top-1 von </a:t>
            </a:r>
            <a:r>
              <a:rPr lang="fr-FR" dirty="0" err="1"/>
              <a:t>etwa</a:t>
            </a:r>
            <a:r>
              <a:rPr lang="fr-FR" dirty="0"/>
              <a:t> 54 % </a:t>
            </a:r>
            <a:r>
              <a:rPr lang="fr-FR" dirty="0" err="1"/>
              <a:t>auf</a:t>
            </a:r>
            <a:r>
              <a:rPr lang="fr-FR" dirty="0"/>
              <a:t> 67 %. Die </a:t>
            </a:r>
            <a:r>
              <a:rPr lang="fr-FR" dirty="0" err="1"/>
              <a:t>Kurven</a:t>
            </a:r>
            <a:r>
              <a:rPr lang="fr-FR" dirty="0"/>
              <a:t> </a:t>
            </a:r>
            <a:r>
              <a:rPr lang="fr-FR" dirty="0" err="1"/>
              <a:t>sind</a:t>
            </a:r>
            <a:r>
              <a:rPr lang="fr-FR" dirty="0"/>
              <a:t> in 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kurven_loss.png</a:t>
            </a:r>
            <a:r>
              <a:rPr lang="fr-FR" dirty="0"/>
              <a:t> </a:t>
            </a:r>
            <a:r>
              <a:rPr lang="fr-FR" dirty="0" err="1"/>
              <a:t>und</a:t>
            </a:r>
            <a:r>
              <a:rPr lang="fr-FR" dirty="0"/>
              <a:t> 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kurven_accuracy.png</a:t>
            </a:r>
            <a:r>
              <a:rPr lang="fr-FR" dirty="0"/>
              <a:t>, </a:t>
            </a:r>
            <a:r>
              <a:rPr lang="fr-FR" dirty="0" err="1"/>
              <a:t>und</a:t>
            </a:r>
            <a:r>
              <a:rPr lang="fr-FR" dirty="0"/>
              <a:t> </a:t>
            </a:r>
            <a:r>
              <a:rPr lang="fr-FR" dirty="0" err="1"/>
              <a:t>im</a:t>
            </a:r>
            <a:r>
              <a:rPr lang="fr-FR" dirty="0"/>
              <a:t> Notebook </a:t>
            </a:r>
            <a:r>
              <a:rPr lang="fr-FR" dirty="0" err="1"/>
              <a:t>unter</a:t>
            </a:r>
            <a:r>
              <a:rPr lang="fr-FR" dirty="0"/>
              <a:t> </a:t>
            </a:r>
            <a:r>
              <a:rPr lang="fr-FR" dirty="0" err="1"/>
              <a:t>Abschnitt</a:t>
            </a:r>
            <a:r>
              <a:rPr lang="fr-FR" dirty="0"/>
              <a:t> 5.</a:t>
            </a:r>
            <a:endParaRPr dirty="0"/>
          </a:p>
          <a:p>
            <a:r>
              <a:rPr dirty="0"/>
              <a:t>"</a:t>
            </a:r>
            <a:r>
              <a:rPr dirty="0" err="1"/>
              <a:t>Trainiert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CrossEntropy-Loss </a:t>
            </a:r>
            <a:r>
              <a:rPr dirty="0" err="1"/>
              <a:t>über</a:t>
            </a:r>
            <a:r>
              <a:rPr dirty="0"/>
              <a:t> alle </a:t>
            </a:r>
            <a:r>
              <a:rPr dirty="0" err="1"/>
              <a:t>Zeitschritte</a:t>
            </a:r>
            <a:r>
              <a:rPr dirty="0"/>
              <a:t> und dem</a:t>
            </a:r>
          </a:p>
          <a:p>
            <a:r>
              <a:rPr dirty="0"/>
              <a:t>Adam-Optimizer."</a:t>
            </a:r>
            <a:endParaRPr lang="fr-FR" dirty="0"/>
          </a:p>
          <a:p>
            <a:endParaRPr dirty="0"/>
          </a:p>
          <a:p>
            <a:endParaRPr dirty="0"/>
          </a:p>
          <a:p>
            <a:r>
              <a:rPr dirty="0"/>
              <a:t>📊 HYPERPARAMETER (</a:t>
            </a:r>
            <a:r>
              <a:rPr dirty="0" err="1"/>
              <a:t>stehen</a:t>
            </a:r>
            <a:r>
              <a:rPr dirty="0"/>
              <a:t> links in der </a:t>
            </a:r>
            <a:r>
              <a:rPr dirty="0" err="1"/>
              <a:t>Tabelle</a:t>
            </a:r>
            <a:r>
              <a:rPr dirty="0"/>
              <a:t>)</a:t>
            </a:r>
          </a:p>
          <a:p>
            <a:r>
              <a:rPr dirty="0"/>
              <a:t>Batch 128 · Learning Rate 0,001 · 10 </a:t>
            </a:r>
            <a:r>
              <a:rPr dirty="0" err="1"/>
              <a:t>Epochen</a:t>
            </a:r>
            <a:r>
              <a:rPr dirty="0"/>
              <a:t> · Hidden 256 · 2 </a:t>
            </a:r>
            <a:r>
              <a:rPr dirty="0" err="1"/>
              <a:t>Schichten</a:t>
            </a:r>
            <a:endParaRPr dirty="0"/>
          </a:p>
          <a:p>
            <a:r>
              <a:rPr dirty="0"/>
              <a:t>· </a:t>
            </a:r>
            <a:r>
              <a:rPr dirty="0" err="1"/>
              <a:t>Sequenzlänge</a:t>
            </a:r>
            <a:r>
              <a:rPr dirty="0"/>
              <a:t> 100</a:t>
            </a:r>
          </a:p>
          <a:p>
            <a:endParaRPr dirty="0"/>
          </a:p>
          <a:p>
            <a:r>
              <a:rPr dirty="0"/>
              <a:t>▶ WANDB BETONEN (das </a:t>
            </a:r>
            <a:r>
              <a:rPr dirty="0" err="1"/>
              <a:t>wurde</a:t>
            </a:r>
            <a:r>
              <a:rPr dirty="0"/>
              <a:t> in der Aufgabe </a:t>
            </a:r>
            <a:r>
              <a:rPr dirty="0" err="1"/>
              <a:t>explizit</a:t>
            </a:r>
            <a:r>
              <a:rPr dirty="0"/>
              <a:t> </a:t>
            </a:r>
            <a:r>
              <a:rPr dirty="0" err="1"/>
              <a:t>verlangt</a:t>
            </a:r>
            <a:r>
              <a:rPr dirty="0"/>
              <a:t>!)</a:t>
            </a:r>
          </a:p>
          <a:p>
            <a:r>
              <a:rPr dirty="0"/>
              <a:t>"Das </a:t>
            </a:r>
            <a:r>
              <a:rPr dirty="0" err="1"/>
              <a:t>komplette</a:t>
            </a:r>
            <a:r>
              <a:rPr dirty="0"/>
              <a:t> Training </a:t>
            </a:r>
            <a:r>
              <a:rPr dirty="0" err="1"/>
              <a:t>ist</a:t>
            </a:r>
            <a:r>
              <a:rPr dirty="0"/>
              <a:t> in Weights &amp; Biases </a:t>
            </a:r>
            <a:r>
              <a:rPr dirty="0" err="1"/>
              <a:t>geloggt</a:t>
            </a:r>
            <a:r>
              <a:rPr dirty="0"/>
              <a:t> – </a:t>
            </a:r>
            <a:r>
              <a:rPr dirty="0" err="1"/>
              <a:t>ein</a:t>
            </a:r>
            <a:r>
              <a:rPr dirty="0"/>
              <a:t> Run pro</a:t>
            </a:r>
          </a:p>
          <a:p>
            <a:r>
              <a:rPr dirty="0"/>
              <a:t>Experiment, </a:t>
            </a:r>
            <a:r>
              <a:rPr dirty="0" err="1"/>
              <a:t>beide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</a:t>
            </a:r>
            <a:r>
              <a:rPr dirty="0" err="1"/>
              <a:t>selben</a:t>
            </a:r>
            <a:r>
              <a:rPr dirty="0"/>
              <a:t> Projekt </a:t>
            </a:r>
            <a:r>
              <a:rPr dirty="0" err="1"/>
              <a:t>unter</a:t>
            </a:r>
            <a:r>
              <a:rPr dirty="0"/>
              <a:t> der Entity </a:t>
            </a:r>
            <a:r>
              <a:rPr dirty="0" err="1"/>
              <a:t>eidl-thm</a:t>
            </a:r>
            <a:r>
              <a:rPr dirty="0"/>
              <a:t>.</a:t>
            </a:r>
          </a:p>
          <a:p>
            <a:r>
              <a:rPr dirty="0" err="1"/>
              <a:t>Dadurch</a:t>
            </a:r>
            <a:r>
              <a:rPr dirty="0"/>
              <a:t> </a:t>
            </a:r>
            <a:r>
              <a:rPr dirty="0" err="1"/>
              <a:t>kann</a:t>
            </a:r>
            <a:r>
              <a:rPr dirty="0"/>
              <a:t> ich LSTM und GRU </a:t>
            </a:r>
            <a:r>
              <a:rPr dirty="0" err="1"/>
              <a:t>direkt</a:t>
            </a:r>
            <a:r>
              <a:rPr dirty="0"/>
              <a:t> </a:t>
            </a:r>
            <a:r>
              <a:rPr dirty="0" err="1"/>
              <a:t>vergleichen</a:t>
            </a:r>
            <a:r>
              <a:rPr dirty="0"/>
              <a:t>."</a:t>
            </a:r>
          </a:p>
          <a:p>
            <a:endParaRPr dirty="0"/>
          </a:p>
          <a:p>
            <a:r>
              <a:rPr dirty="0"/>
              <a:t>▶ Pro </a:t>
            </a:r>
            <a:r>
              <a:rPr dirty="0" err="1"/>
              <a:t>Epoche</a:t>
            </a:r>
            <a:r>
              <a:rPr dirty="0"/>
              <a:t> </a:t>
            </a:r>
            <a:r>
              <a:rPr dirty="0" err="1"/>
              <a:t>geloggt</a:t>
            </a:r>
            <a:r>
              <a:rPr dirty="0"/>
              <a:t>: Loss, Top-1 und Top-5 – </a:t>
            </a:r>
            <a:r>
              <a:rPr dirty="0" err="1"/>
              <a:t>jeweils</a:t>
            </a:r>
            <a:r>
              <a:rPr dirty="0"/>
              <a:t> Train UND Validation.</a:t>
            </a:r>
          </a:p>
          <a:p>
            <a:endParaRPr dirty="0"/>
          </a:p>
          <a:p>
            <a:r>
              <a:rPr dirty="0"/>
              <a:t>❓ FALLS GEFRAGT "</a:t>
            </a:r>
            <a:r>
              <a:rPr dirty="0" err="1"/>
              <a:t>Warum</a:t>
            </a:r>
            <a:r>
              <a:rPr dirty="0"/>
              <a:t> Adam?"</a:t>
            </a:r>
          </a:p>
          <a:p>
            <a:r>
              <a:rPr dirty="0"/>
              <a:t>"Adam </a:t>
            </a:r>
            <a:r>
              <a:rPr dirty="0" err="1"/>
              <a:t>passt</a:t>
            </a:r>
            <a:r>
              <a:rPr dirty="0"/>
              <a:t> die </a:t>
            </a:r>
            <a:r>
              <a:rPr dirty="0" err="1"/>
              <a:t>Schrittweite</a:t>
            </a:r>
            <a:r>
              <a:rPr dirty="0"/>
              <a:t> für </a:t>
            </a:r>
            <a:r>
              <a:rPr dirty="0" err="1"/>
              <a:t>jeden</a:t>
            </a:r>
            <a:r>
              <a:rPr dirty="0"/>
              <a:t> Parameter </a:t>
            </a:r>
            <a:r>
              <a:rPr dirty="0" err="1"/>
              <a:t>automatisch</a:t>
            </a:r>
            <a:r>
              <a:rPr dirty="0"/>
              <a:t> an –</a:t>
            </a:r>
          </a:p>
          <a:p>
            <a:r>
              <a:rPr dirty="0"/>
              <a:t>das </a:t>
            </a:r>
            <a:r>
              <a:rPr dirty="0" err="1"/>
              <a:t>ist</a:t>
            </a:r>
            <a:r>
              <a:rPr dirty="0"/>
              <a:t> der Standard und </a:t>
            </a:r>
            <a:r>
              <a:rPr dirty="0" err="1"/>
              <a:t>läuft</a:t>
            </a:r>
            <a:r>
              <a:rPr dirty="0"/>
              <a:t> </a:t>
            </a:r>
            <a:r>
              <a:rPr dirty="0" err="1"/>
              <a:t>hier</a:t>
            </a:r>
            <a:r>
              <a:rPr dirty="0"/>
              <a:t> </a:t>
            </a:r>
            <a:r>
              <a:rPr dirty="0" err="1"/>
              <a:t>stabil</a:t>
            </a:r>
            <a:r>
              <a:rPr dirty="0"/>
              <a:t>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▶ LINKS: LOSS</a:t>
            </a:r>
          </a:p>
          <a:p>
            <a:r>
              <a:t>"Der Loss fällt stetig – von 2,17 auf 1,06 im Training,</a:t>
            </a:r>
          </a:p>
          <a:p>
            <a:r>
              <a:t>von 1,55 auf 1,08 in der Validierung."</a:t>
            </a:r>
          </a:p>
          <a:p>
            <a:endParaRPr/>
          </a:p>
          <a:p>
            <a:r>
              <a:t>▶ WICHTIG: Train- und Validierungskurve liegen fast aufeinander</a:t>
            </a:r>
          </a:p>
          <a:p>
            <a:r>
              <a:t>"Es gibt also praktisch kein Overfitting."</a:t>
            </a:r>
          </a:p>
          <a:p>
            <a:endParaRPr/>
          </a:p>
          <a:p>
            <a:r>
              <a:t>▶ EHRLICHER PUNKT (bringt Pluspunkte!)</a:t>
            </a:r>
          </a:p>
          <a:p>
            <a:r>
              <a:t>"Man sieht außerdem: die Validierungs-Loss fiel bei Epoche 10 immer noch.</a:t>
            </a:r>
          </a:p>
          <a:p>
            <a:r>
              <a:t>Das Modell war also noch nicht auslerniert – wir hätten länger bzw. mit</a:t>
            </a:r>
          </a:p>
          <a:p>
            <a:r>
              <a:t>mehr Daten trainieren können. Dazu komme ich beim Ausblick."</a:t>
            </a:r>
          </a:p>
          <a:p>
            <a:endParaRPr/>
          </a:p>
          <a:p>
            <a:r>
              <a:t>▶ RECHTS: ACCURACY</a:t>
            </a:r>
          </a:p>
          <a:p>
            <a:r>
              <a:t>Top-1 steigt auf ca. 67 %, Top-5 auf ca. 93 %.</a:t>
            </a:r>
          </a:p>
          <a:p>
            <a:endParaRPr/>
          </a:p>
          <a:p>
            <a:r>
              <a:t>▶ Hinweis: "Die interaktiven Kurven aller Runs liegen in wandb."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▶ DEFINITION ZUERST (genau wie im Übungsblatt!)</a:t>
            </a:r>
          </a:p>
          <a:p>
            <a:r>
              <a:t>"Top-1 Accuracy ist der Anteil der Test-Sequenzen, bei denen das Modell</a:t>
            </a:r>
          </a:p>
          <a:p>
            <a:r>
              <a:t>das nächste Zeichen als wahrscheinlichstes vorhersagt.</a:t>
            </a:r>
          </a:p>
          <a:p>
            <a:r>
              <a:t>Top-5 ist der Anteil, bei dem das richtige Zeichen unter den fünf</a:t>
            </a:r>
          </a:p>
          <a:p>
            <a:r>
              <a:t>wahrscheinlichsten liegt."</a:t>
            </a:r>
          </a:p>
          <a:p>
            <a:endParaRPr/>
          </a:p>
          <a:p>
            <a:r>
              <a:t>📊 ERGEBNIS</a:t>
            </a:r>
          </a:p>
          <a:p>
            <a:r>
              <a:t>Top-1: 67,6 %   |   Top-5: 93,4 %</a:t>
            </a:r>
          </a:p>
          <a:p>
            <a:endParaRPr/>
          </a:p>
          <a:p>
            <a:r>
              <a:t>▶ DER SATZ, DER DIE ZAHL EINORDNET (nicht vergessen!)</a:t>
            </a:r>
          </a:p>
          <a:p>
            <a:r>
              <a:t>"Zum Vergleich: bei 92 Zeichen läge reines Raten bei etwa 1,1 %.</a:t>
            </a:r>
          </a:p>
          <a:p>
            <a:r>
              <a:t>Wir sind also um den Faktor 60 besser als der Zufall –</a:t>
            </a:r>
          </a:p>
          <a:p>
            <a:r>
              <a:t>das Modell hat wirklich etwas gelernt."</a:t>
            </a:r>
          </a:p>
          <a:p>
            <a:endParaRPr/>
          </a:p>
          <a:p>
            <a:r>
              <a:t>❓ FALLS GEFRAGT "Wie haben Sie gesplittet?" (ehrliche Antwort = Pluspunkte)</a:t>
            </a:r>
          </a:p>
          <a:p>
            <a:r>
              <a:t>"Ich habe die Fenster gemischt und dann 80/10/10 gesplittet. Da sich</a:t>
            </a:r>
          </a:p>
          <a:p>
            <a:r>
              <a:t>benachbarte Fenster aber um 50 Zeichen überlappen, können zwei</a:t>
            </a:r>
          </a:p>
          <a:p>
            <a:r>
              <a:t>überlappende Fenster in Train und Test landen – es gibt also eine leichte</a:t>
            </a:r>
          </a:p>
          <a:p>
            <a:r>
              <a:t>Leakage, mein Testwert ist minimal optimistisch. Sauberer wäre: erst den</a:t>
            </a:r>
          </a:p>
          <a:p>
            <a:r>
              <a:t>Text splitten, dann in jedem Teil die Fenster bauen. Der Effekt dürfte</a:t>
            </a:r>
          </a:p>
          <a:p>
            <a:r>
              <a:t>hier aber klein sein, weil das Modell nicht overfittet – Train und</a:t>
            </a:r>
          </a:p>
          <a:p>
            <a:r>
              <a:t>Validation liegen ja fast aufeinander, es hat also nichts auswendig</a:t>
            </a:r>
          </a:p>
          <a:p>
            <a:r>
              <a:t>gelernt, das durchsickern könnte."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▶ SAGEN</a:t>
            </a:r>
            <a:endParaRPr lang="fr-FR" dirty="0"/>
          </a:p>
          <a:p>
            <a:r>
              <a:rPr lang="fr-FR" dirty="0"/>
              <a:t>In </a:t>
            </a:r>
            <a:r>
              <a:rPr lang="fr-FR" dirty="0" err="1"/>
              <a:t>Task</a:t>
            </a:r>
            <a:r>
              <a:rPr lang="fr-FR" dirty="0"/>
              <a:t> 4 </a:t>
            </a:r>
            <a:r>
              <a:rPr lang="fr-FR" dirty="0" err="1"/>
              <a:t>generieren</a:t>
            </a:r>
            <a:r>
              <a:rPr lang="fr-FR" dirty="0"/>
              <a:t> </a:t>
            </a:r>
            <a:r>
              <a:rPr lang="fr-FR" dirty="0" err="1"/>
              <a:t>wir</a:t>
            </a:r>
            <a:r>
              <a:rPr lang="fr-FR" dirty="0"/>
              <a:t> </a:t>
            </a:r>
            <a:r>
              <a:rPr lang="fr-FR" dirty="0" err="1"/>
              <a:t>neue</a:t>
            </a:r>
            <a:r>
              <a:rPr lang="fr-FR" dirty="0"/>
              <a:t> </a:t>
            </a:r>
            <a:r>
              <a:rPr lang="fr-FR" dirty="0" err="1"/>
              <a:t>Melodien</a:t>
            </a:r>
            <a:r>
              <a:rPr lang="fr-FR" dirty="0"/>
              <a:t>. Wir </a:t>
            </a:r>
            <a:r>
              <a:rPr lang="fr-FR" dirty="0" err="1"/>
              <a:t>starten</a:t>
            </a:r>
            <a:r>
              <a:rPr lang="fr-FR" dirty="0"/>
              <a:t> mit </a:t>
            </a:r>
            <a:r>
              <a:rPr lang="fr-FR" dirty="0" err="1"/>
              <a:t>einem</a:t>
            </a:r>
            <a:r>
              <a:rPr lang="fr-FR" dirty="0"/>
              <a:t> </a:t>
            </a:r>
            <a:r>
              <a:rPr lang="fr-FR" dirty="0" err="1"/>
              <a:t>typischen</a:t>
            </a:r>
            <a:r>
              <a:rPr lang="fr-FR" dirty="0"/>
              <a:t> ABC-Seed mit </a:t>
            </a:r>
            <a:r>
              <a:rPr lang="fr-FR" dirty="0" err="1"/>
              <a:t>Taktart</a:t>
            </a:r>
            <a:r>
              <a:rPr lang="fr-FR" dirty="0"/>
              <a:t> </a:t>
            </a:r>
            <a:r>
              <a:rPr lang="fr-FR" dirty="0" err="1"/>
              <a:t>und</a:t>
            </a:r>
            <a:r>
              <a:rPr lang="fr-FR" dirty="0"/>
              <a:t> </a:t>
            </a:r>
            <a:r>
              <a:rPr lang="fr-FR" dirty="0" err="1"/>
              <a:t>Tonart</a:t>
            </a:r>
            <a:r>
              <a:rPr lang="fr-FR" dirty="0"/>
              <a:t>. Das Modell </a:t>
            </a:r>
            <a:r>
              <a:rPr lang="fr-FR" dirty="0" err="1"/>
              <a:t>berechnet</a:t>
            </a:r>
            <a:r>
              <a:rPr lang="fr-FR" dirty="0"/>
              <a:t> </a:t>
            </a:r>
            <a:r>
              <a:rPr lang="fr-FR" dirty="0" err="1"/>
              <a:t>Wahrscheinlichkeiten</a:t>
            </a:r>
            <a:r>
              <a:rPr lang="fr-FR" dirty="0"/>
              <a:t> </a:t>
            </a:r>
            <a:r>
              <a:rPr lang="fr-FR" dirty="0" err="1"/>
              <a:t>über</a:t>
            </a:r>
            <a:r>
              <a:rPr lang="fr-FR" dirty="0"/>
              <a:t> </a:t>
            </a:r>
            <a:r>
              <a:rPr lang="fr-FR" dirty="0" err="1"/>
              <a:t>Softmax</a:t>
            </a:r>
            <a:r>
              <a:rPr lang="fr-FR" dirty="0"/>
              <a:t>, </a:t>
            </a:r>
            <a:r>
              <a:rPr lang="fr-FR" dirty="0" err="1"/>
              <a:t>und</a:t>
            </a:r>
            <a:r>
              <a:rPr lang="fr-FR" dirty="0"/>
              <a:t> </a:t>
            </a:r>
            <a:r>
              <a:rPr lang="fr-FR" dirty="0" err="1"/>
              <a:t>wir</a:t>
            </a:r>
            <a:r>
              <a:rPr lang="fr-FR" dirty="0"/>
              <a:t> </a:t>
            </a:r>
            <a:r>
              <a:rPr lang="fr-FR" dirty="0" err="1"/>
              <a:t>sampeln</a:t>
            </a:r>
            <a:r>
              <a:rPr lang="fr-FR" dirty="0"/>
              <a:t> mit 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torch.multinomial</a:t>
            </a:r>
            <a:r>
              <a:rPr lang="fr-FR" dirty="0"/>
              <a:t> – </a:t>
            </a:r>
            <a:r>
              <a:rPr lang="fr-FR" dirty="0" err="1"/>
              <a:t>nicht</a:t>
            </a:r>
            <a:r>
              <a:rPr lang="fr-FR" dirty="0"/>
              <a:t> </a:t>
            </a:r>
            <a:r>
              <a:rPr lang="fr-FR" dirty="0" err="1"/>
              <a:t>immer</a:t>
            </a:r>
            <a:r>
              <a:rPr lang="fr-FR" dirty="0"/>
              <a:t> </a:t>
            </a:r>
            <a:r>
              <a:rPr lang="fr-FR" dirty="0" err="1"/>
              <a:t>das</a:t>
            </a:r>
            <a:r>
              <a:rPr lang="fr-FR" dirty="0"/>
              <a:t> Maximum, </a:t>
            </a:r>
            <a:r>
              <a:rPr lang="fr-FR" dirty="0" err="1"/>
              <a:t>sonst</a:t>
            </a:r>
            <a:r>
              <a:rPr lang="fr-FR" dirty="0"/>
              <a:t> </a:t>
            </a:r>
            <a:r>
              <a:rPr lang="fr-FR" dirty="0" err="1"/>
              <a:t>wäre</a:t>
            </a:r>
            <a:r>
              <a:rPr lang="fr-FR" dirty="0"/>
              <a:t> die </a:t>
            </a:r>
            <a:r>
              <a:rPr lang="fr-FR" dirty="0" err="1"/>
              <a:t>Musik</a:t>
            </a:r>
            <a:r>
              <a:rPr lang="fr-FR" dirty="0"/>
              <a:t> </a:t>
            </a:r>
            <a:r>
              <a:rPr lang="fr-FR" dirty="0" err="1"/>
              <a:t>zu</a:t>
            </a:r>
            <a:r>
              <a:rPr lang="fr-FR" dirty="0"/>
              <a:t> </a:t>
            </a:r>
            <a:r>
              <a:rPr lang="fr-FR" dirty="0" err="1"/>
              <a:t>repetitiv</a:t>
            </a:r>
            <a:r>
              <a:rPr lang="fr-FR" dirty="0"/>
              <a:t>. </a:t>
            </a:r>
            <a:r>
              <a:rPr lang="fr-FR" dirty="0" err="1"/>
              <a:t>Zeichen</a:t>
            </a:r>
            <a:r>
              <a:rPr lang="fr-FR" dirty="0"/>
              <a:t> </a:t>
            </a:r>
            <a:r>
              <a:rPr lang="fr-FR" dirty="0" err="1"/>
              <a:t>für</a:t>
            </a:r>
            <a:r>
              <a:rPr lang="fr-FR" dirty="0"/>
              <a:t> </a:t>
            </a:r>
            <a:r>
              <a:rPr lang="fr-FR" dirty="0" err="1"/>
              <a:t>Zeichen</a:t>
            </a:r>
            <a:r>
              <a:rPr lang="fr-FR" dirty="0"/>
              <a:t> </a:t>
            </a:r>
            <a:r>
              <a:rPr lang="fr-FR" dirty="0" err="1"/>
              <a:t>schreiben</a:t>
            </a:r>
            <a:r>
              <a:rPr lang="fr-FR" dirty="0"/>
              <a:t> </a:t>
            </a:r>
            <a:r>
              <a:rPr lang="fr-FR" dirty="0" err="1"/>
              <a:t>wir</a:t>
            </a:r>
            <a:r>
              <a:rPr lang="fr-FR" dirty="0"/>
              <a:t> </a:t>
            </a:r>
            <a:r>
              <a:rPr lang="fr-FR" dirty="0" err="1"/>
              <a:t>weiter</a:t>
            </a:r>
            <a:r>
              <a:rPr lang="fr-FR" dirty="0"/>
              <a:t>, der </a:t>
            </a:r>
            <a:r>
              <a:rPr lang="fr-FR" dirty="0" err="1"/>
              <a:t>Kontext</a:t>
            </a:r>
            <a:r>
              <a:rPr lang="fr-FR" dirty="0"/>
              <a:t> </a:t>
            </a:r>
            <a:r>
              <a:rPr lang="fr-FR" dirty="0" err="1"/>
              <a:t>steckt</a:t>
            </a:r>
            <a:r>
              <a:rPr lang="fr-FR" dirty="0"/>
              <a:t> </a:t>
            </a:r>
            <a:r>
              <a:rPr lang="fr-FR" dirty="0" err="1"/>
              <a:t>im</a:t>
            </a:r>
            <a:r>
              <a:rPr lang="fr-FR" dirty="0"/>
              <a:t> Hidden State. Die </a:t>
            </a:r>
            <a:r>
              <a:rPr lang="fr-FR" dirty="0" err="1"/>
              <a:t>generierten</a:t>
            </a:r>
            <a:r>
              <a:rPr lang="fr-FR" dirty="0"/>
              <a:t> </a:t>
            </a:r>
            <a:r>
              <a:rPr lang="fr-FR" dirty="0" err="1"/>
              <a:t>Stücke</a:t>
            </a:r>
            <a:r>
              <a:rPr lang="fr-FR" dirty="0"/>
              <a:t> </a:t>
            </a:r>
            <a:r>
              <a:rPr lang="fr-FR" dirty="0" err="1"/>
              <a:t>stehen</a:t>
            </a:r>
            <a:r>
              <a:rPr lang="fr-FR" dirty="0"/>
              <a:t> in 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beispiele.txt</a:t>
            </a:r>
            <a:r>
              <a:rPr lang="fr-FR" dirty="0"/>
              <a:t> </a:t>
            </a:r>
            <a:r>
              <a:rPr lang="fr-FR" dirty="0" err="1"/>
              <a:t>und</a:t>
            </a:r>
            <a:r>
              <a:rPr lang="fr-FR" dirty="0"/>
              <a:t> </a:t>
            </a:r>
            <a:r>
              <a:rPr lang="fr-FR" dirty="0" err="1"/>
              <a:t>im</a:t>
            </a:r>
            <a:r>
              <a:rPr lang="fr-FR" dirty="0"/>
              <a:t> Notebook </a:t>
            </a:r>
            <a:r>
              <a:rPr lang="fr-FR" dirty="0" err="1"/>
              <a:t>Abschnitt</a:t>
            </a:r>
            <a:r>
              <a:rPr lang="fr-FR" dirty="0"/>
              <a:t> 7. Man </a:t>
            </a:r>
            <a:r>
              <a:rPr lang="fr-FR" dirty="0" err="1"/>
              <a:t>kann</a:t>
            </a:r>
            <a:r>
              <a:rPr lang="fr-FR" dirty="0"/>
              <a:t> </a:t>
            </a:r>
            <a:r>
              <a:rPr lang="fr-FR" dirty="0" err="1"/>
              <a:t>sie</a:t>
            </a:r>
            <a:r>
              <a:rPr lang="fr-FR" dirty="0"/>
              <a:t> online in </a:t>
            </a:r>
            <a:r>
              <a:rPr lang="fr-FR" dirty="0" err="1"/>
              <a:t>einem</a:t>
            </a:r>
            <a:r>
              <a:rPr lang="fr-FR" dirty="0"/>
              <a:t> ABC-Player </a:t>
            </a:r>
            <a:r>
              <a:rPr lang="fr-FR" dirty="0" err="1"/>
              <a:t>anhören</a:t>
            </a:r>
            <a:r>
              <a:rPr lang="fr-FR" dirty="0"/>
              <a:t>.</a:t>
            </a:r>
            <a:endParaRPr dirty="0"/>
          </a:p>
          <a:p>
            <a:r>
              <a:rPr dirty="0"/>
              <a:t>"Hier </a:t>
            </a:r>
            <a:r>
              <a:rPr dirty="0" err="1"/>
              <a:t>sehen</a:t>
            </a:r>
            <a:r>
              <a:rPr dirty="0"/>
              <a:t> Sie </a:t>
            </a:r>
            <a:r>
              <a:rPr dirty="0" err="1"/>
              <a:t>ein</a:t>
            </a:r>
            <a:r>
              <a:rPr dirty="0"/>
              <a:t> Stück, das </a:t>
            </a:r>
            <a:r>
              <a:rPr dirty="0" err="1"/>
              <a:t>mein</a:t>
            </a:r>
            <a:r>
              <a:rPr dirty="0"/>
              <a:t> LSTM </a:t>
            </a:r>
            <a:r>
              <a:rPr dirty="0" err="1"/>
              <a:t>selbst</a:t>
            </a:r>
            <a:r>
              <a:rPr dirty="0"/>
              <a:t> </a:t>
            </a:r>
            <a:r>
              <a:rPr dirty="0" err="1"/>
              <a:t>geschrieben</a:t>
            </a:r>
            <a:r>
              <a:rPr dirty="0"/>
              <a:t> hat.</a:t>
            </a:r>
          </a:p>
          <a:p>
            <a:r>
              <a:rPr dirty="0"/>
              <a:t>Ich </a:t>
            </a:r>
            <a:r>
              <a:rPr dirty="0" err="1"/>
              <a:t>habe</a:t>
            </a:r>
            <a:r>
              <a:rPr dirty="0"/>
              <a:t> </a:t>
            </a:r>
            <a:r>
              <a:rPr dirty="0" err="1"/>
              <a:t>ihm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 den Header </a:t>
            </a:r>
            <a:r>
              <a:rPr dirty="0" err="1"/>
              <a:t>vorgegeben</a:t>
            </a:r>
            <a:r>
              <a:rPr dirty="0"/>
              <a:t> – also 6/8-Takt und D-Dur –</a:t>
            </a:r>
          </a:p>
          <a:p>
            <a:r>
              <a:rPr dirty="0"/>
              <a:t>den Rest hat es </a:t>
            </a:r>
            <a:r>
              <a:rPr dirty="0" err="1"/>
              <a:t>Zeichen</a:t>
            </a:r>
            <a:r>
              <a:rPr dirty="0"/>
              <a:t> für </a:t>
            </a:r>
            <a:r>
              <a:rPr dirty="0" err="1"/>
              <a:t>Zeichen</a:t>
            </a:r>
            <a:r>
              <a:rPr dirty="0"/>
              <a:t> </a:t>
            </a:r>
            <a:r>
              <a:rPr dirty="0" err="1"/>
              <a:t>selbst</a:t>
            </a:r>
            <a:r>
              <a:rPr dirty="0"/>
              <a:t> </a:t>
            </a:r>
            <a:r>
              <a:rPr dirty="0" err="1"/>
              <a:t>erzeugt</a:t>
            </a:r>
            <a:r>
              <a:rPr dirty="0"/>
              <a:t>."</a:t>
            </a:r>
          </a:p>
          <a:p>
            <a:endParaRPr dirty="0"/>
          </a:p>
          <a:p>
            <a:r>
              <a:rPr dirty="0"/>
              <a:t>▶ AUF DIE STRUKTUR ZEIGEN</a:t>
            </a:r>
          </a:p>
          <a:p>
            <a:r>
              <a:rPr dirty="0"/>
              <a:t>• M:6/8 = </a:t>
            </a:r>
            <a:r>
              <a:rPr dirty="0" err="1"/>
              <a:t>eine</a:t>
            </a:r>
            <a:r>
              <a:rPr dirty="0"/>
              <a:t> Jig, der </a:t>
            </a:r>
            <a:r>
              <a:rPr dirty="0" err="1"/>
              <a:t>typische</a:t>
            </a:r>
            <a:r>
              <a:rPr dirty="0"/>
              <a:t> </a:t>
            </a:r>
            <a:r>
              <a:rPr dirty="0" err="1"/>
              <a:t>irische</a:t>
            </a:r>
            <a:r>
              <a:rPr dirty="0"/>
              <a:t> Tanz; K:D = D-Dur</a:t>
            </a:r>
          </a:p>
          <a:p>
            <a:r>
              <a:rPr dirty="0"/>
              <a:t>• Es </a:t>
            </a:r>
            <a:r>
              <a:rPr dirty="0" err="1"/>
              <a:t>setzt</a:t>
            </a:r>
            <a:r>
              <a:rPr dirty="0"/>
              <a:t> die </a:t>
            </a:r>
            <a:r>
              <a:rPr dirty="0" err="1"/>
              <a:t>Taktstriche</a:t>
            </a:r>
            <a:r>
              <a:rPr dirty="0"/>
              <a:t> | </a:t>
            </a:r>
            <a:r>
              <a:rPr dirty="0" err="1"/>
              <a:t>korrekt</a:t>
            </a:r>
            <a:r>
              <a:rPr dirty="0"/>
              <a:t> und </a:t>
            </a:r>
            <a:r>
              <a:rPr dirty="0" err="1"/>
              <a:t>hält</a:t>
            </a:r>
            <a:r>
              <a:rPr dirty="0"/>
              <a:t> die </a:t>
            </a:r>
            <a:r>
              <a:rPr dirty="0" err="1"/>
              <a:t>Tonart</a:t>
            </a:r>
            <a:r>
              <a:rPr dirty="0"/>
              <a:t> </a:t>
            </a:r>
            <a:r>
              <a:rPr dirty="0" err="1"/>
              <a:t>durch</a:t>
            </a:r>
            <a:endParaRPr dirty="0"/>
          </a:p>
          <a:p>
            <a:r>
              <a:rPr dirty="0"/>
              <a:t>• Es </a:t>
            </a:r>
            <a:r>
              <a:rPr dirty="0" err="1"/>
              <a:t>endet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einem</a:t>
            </a:r>
            <a:r>
              <a:rPr dirty="0"/>
              <a:t> </a:t>
            </a:r>
            <a:r>
              <a:rPr dirty="0" err="1"/>
              <a:t>Schlussstrich</a:t>
            </a:r>
            <a:r>
              <a:rPr dirty="0"/>
              <a:t> ||</a:t>
            </a:r>
          </a:p>
          <a:p>
            <a:endParaRPr dirty="0"/>
          </a:p>
          <a:p>
            <a:r>
              <a:rPr dirty="0"/>
              <a:t>▶ DAS HIGHLIGHT (auf |1 ... :|2 ... </a:t>
            </a:r>
            <a:r>
              <a:rPr dirty="0" err="1"/>
              <a:t>zeigen</a:t>
            </a:r>
            <a:r>
              <a:rPr dirty="0"/>
              <a:t>!)</a:t>
            </a:r>
          </a:p>
          <a:p>
            <a:r>
              <a:rPr dirty="0"/>
              <a:t>"</a:t>
            </a:r>
            <a:r>
              <a:rPr dirty="0" err="1"/>
              <a:t>Besonders</a:t>
            </a:r>
            <a:r>
              <a:rPr dirty="0"/>
              <a:t> </a:t>
            </a:r>
            <a:r>
              <a:rPr dirty="0" err="1"/>
              <a:t>interessant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das </a:t>
            </a:r>
            <a:r>
              <a:rPr dirty="0" err="1"/>
              <a:t>hier</a:t>
            </a:r>
            <a:r>
              <a:rPr dirty="0"/>
              <a:t>: </a:t>
            </a:r>
            <a:r>
              <a:rPr dirty="0" err="1"/>
              <a:t>erste</a:t>
            </a:r>
            <a:r>
              <a:rPr dirty="0"/>
              <a:t> und </a:t>
            </a:r>
            <a:r>
              <a:rPr dirty="0" err="1"/>
              <a:t>zweite</a:t>
            </a:r>
            <a:r>
              <a:rPr dirty="0"/>
              <a:t> </a:t>
            </a:r>
            <a:r>
              <a:rPr dirty="0" err="1"/>
              <a:t>Endung</a:t>
            </a:r>
            <a:r>
              <a:rPr dirty="0"/>
              <a:t>.</a:t>
            </a:r>
          </a:p>
          <a:p>
            <a:r>
              <a:rPr dirty="0"/>
              <a:t>Das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typische</a:t>
            </a:r>
            <a:r>
              <a:rPr dirty="0"/>
              <a:t> </a:t>
            </a:r>
            <a:r>
              <a:rPr dirty="0" err="1"/>
              <a:t>Konvention</a:t>
            </a:r>
            <a:r>
              <a:rPr dirty="0"/>
              <a:t> </a:t>
            </a:r>
            <a:r>
              <a:rPr dirty="0" err="1"/>
              <a:t>irischer</a:t>
            </a:r>
            <a:r>
              <a:rPr dirty="0"/>
              <a:t> </a:t>
            </a:r>
            <a:r>
              <a:rPr dirty="0" err="1"/>
              <a:t>Volksmusik</a:t>
            </a:r>
            <a:r>
              <a:rPr dirty="0"/>
              <a:t>. Das </a:t>
            </a:r>
            <a:r>
              <a:rPr dirty="0" err="1"/>
              <a:t>habe</a:t>
            </a:r>
            <a:r>
              <a:rPr dirty="0"/>
              <a:t> ich</a:t>
            </a:r>
          </a:p>
          <a:p>
            <a:r>
              <a:rPr dirty="0" err="1"/>
              <a:t>nirgendwo</a:t>
            </a:r>
            <a:r>
              <a:rPr dirty="0"/>
              <a:t> </a:t>
            </a:r>
            <a:r>
              <a:rPr dirty="0" err="1"/>
              <a:t>einprogrammiert</a:t>
            </a:r>
            <a:r>
              <a:rPr dirty="0"/>
              <a:t> – das Modell hat es </a:t>
            </a:r>
            <a:r>
              <a:rPr dirty="0" err="1"/>
              <a:t>allein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 den </a:t>
            </a:r>
            <a:r>
              <a:rPr dirty="0" err="1"/>
              <a:t>Daten</a:t>
            </a:r>
            <a:endParaRPr dirty="0"/>
          </a:p>
          <a:p>
            <a:r>
              <a:rPr dirty="0" err="1"/>
              <a:t>gelernt</a:t>
            </a:r>
            <a:r>
              <a:rPr dirty="0"/>
              <a:t>. Das </a:t>
            </a:r>
            <a:r>
              <a:rPr dirty="0" err="1"/>
              <a:t>zeigt</a:t>
            </a:r>
            <a:r>
              <a:rPr dirty="0"/>
              <a:t>, </a:t>
            </a:r>
            <a:r>
              <a:rPr dirty="0" err="1"/>
              <a:t>dass</a:t>
            </a:r>
            <a:r>
              <a:rPr dirty="0"/>
              <a:t> es </a:t>
            </a:r>
            <a:r>
              <a:rPr dirty="0" err="1"/>
              <a:t>wirklich</a:t>
            </a:r>
            <a:r>
              <a:rPr dirty="0"/>
              <a:t> </a:t>
            </a:r>
            <a:r>
              <a:rPr dirty="0" err="1"/>
              <a:t>langfristige</a:t>
            </a:r>
            <a:r>
              <a:rPr dirty="0"/>
              <a:t> </a:t>
            </a:r>
            <a:r>
              <a:rPr dirty="0" err="1"/>
              <a:t>Struktur</a:t>
            </a:r>
            <a:r>
              <a:rPr dirty="0"/>
              <a:t> </a:t>
            </a:r>
            <a:r>
              <a:rPr dirty="0" err="1"/>
              <a:t>erfasst</a:t>
            </a:r>
            <a:r>
              <a:rPr dirty="0"/>
              <a:t>."</a:t>
            </a:r>
          </a:p>
          <a:p>
            <a:endParaRPr dirty="0"/>
          </a:p>
          <a:p>
            <a:r>
              <a:rPr dirty="0"/>
              <a:t>▶ GENERIERUNG ERKLÄREN</a:t>
            </a:r>
          </a:p>
          <a:p>
            <a:r>
              <a:rPr dirty="0"/>
              <a:t>"</a:t>
            </a:r>
            <a:r>
              <a:rPr dirty="0" err="1"/>
              <a:t>Generiert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autoregressiv</a:t>
            </a:r>
            <a:r>
              <a:rPr dirty="0"/>
              <a:t>: </a:t>
            </a:r>
            <a:r>
              <a:rPr dirty="0" err="1"/>
              <a:t>Softmax</a:t>
            </a:r>
            <a:r>
              <a:rPr dirty="0"/>
              <a:t> </a:t>
            </a:r>
            <a:r>
              <a:rPr dirty="0" err="1"/>
              <a:t>über</a:t>
            </a:r>
            <a:r>
              <a:rPr dirty="0"/>
              <a:t> die Logits, </a:t>
            </a:r>
            <a:r>
              <a:rPr dirty="0" err="1"/>
              <a:t>dann</a:t>
            </a:r>
            <a:r>
              <a:rPr dirty="0"/>
              <a:t> </a:t>
            </a:r>
            <a:r>
              <a:rPr dirty="0" err="1"/>
              <a:t>ziehe</a:t>
            </a:r>
            <a:r>
              <a:rPr dirty="0"/>
              <a:t> ich</a:t>
            </a:r>
          </a:p>
          <a:p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Stichprobe</a:t>
            </a:r>
            <a:r>
              <a:rPr dirty="0"/>
              <a:t> – </a:t>
            </a:r>
            <a:r>
              <a:rPr dirty="0" err="1"/>
              <a:t>statt</a:t>
            </a:r>
            <a:r>
              <a:rPr dirty="0"/>
              <a:t> </a:t>
            </a:r>
            <a:r>
              <a:rPr dirty="0" err="1"/>
              <a:t>einfach</a:t>
            </a:r>
            <a:r>
              <a:rPr dirty="0"/>
              <a:t> immer das </a:t>
            </a:r>
            <a:r>
              <a:rPr dirty="0" err="1"/>
              <a:t>wahrscheinlichste</a:t>
            </a:r>
            <a:r>
              <a:rPr dirty="0"/>
              <a:t> </a:t>
            </a:r>
            <a:r>
              <a:rPr dirty="0" err="1"/>
              <a:t>Zeichen</a:t>
            </a:r>
            <a:r>
              <a:rPr dirty="0"/>
              <a:t> </a:t>
            </a:r>
            <a:r>
              <a:rPr dirty="0" err="1"/>
              <a:t>zu</a:t>
            </a:r>
            <a:endParaRPr dirty="0"/>
          </a:p>
          <a:p>
            <a:r>
              <a:rPr dirty="0" err="1"/>
              <a:t>nehmen</a:t>
            </a:r>
            <a:r>
              <a:rPr dirty="0"/>
              <a:t>. Mit Argmax </a:t>
            </a:r>
            <a:r>
              <a:rPr dirty="0" err="1"/>
              <a:t>würde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die Melodie </a:t>
            </a:r>
            <a:r>
              <a:rPr dirty="0" err="1"/>
              <a:t>sofort</a:t>
            </a:r>
            <a:r>
              <a:rPr dirty="0"/>
              <a:t> </a:t>
            </a:r>
            <a:r>
              <a:rPr dirty="0" err="1"/>
              <a:t>endlos</a:t>
            </a:r>
            <a:r>
              <a:rPr dirty="0"/>
              <a:t> </a:t>
            </a:r>
            <a:r>
              <a:rPr dirty="0" err="1"/>
              <a:t>wiederholen</a:t>
            </a:r>
            <a:r>
              <a:rPr dirty="0"/>
              <a:t>."</a:t>
            </a:r>
          </a:p>
          <a:p>
            <a:endParaRPr dirty="0"/>
          </a:p>
          <a:p>
            <a:r>
              <a:rPr dirty="0"/>
              <a:t>🔊 JETZT DIE WAV-DATEI ABSPIELEN (generierte_musik.wav) – der Aha-Moment!</a:t>
            </a:r>
          </a:p>
          <a:p>
            <a:endParaRPr dirty="0"/>
          </a:p>
          <a:p>
            <a:r>
              <a:rPr dirty="0"/>
              <a:t>⚠️ Falls </a:t>
            </a:r>
            <a:r>
              <a:rPr dirty="0" err="1"/>
              <a:t>jemand</a:t>
            </a:r>
            <a:r>
              <a:rPr dirty="0"/>
              <a:t> </a:t>
            </a:r>
            <a:r>
              <a:rPr dirty="0" err="1"/>
              <a:t>genau</a:t>
            </a:r>
            <a:r>
              <a:rPr dirty="0"/>
              <a:t> </a:t>
            </a:r>
            <a:r>
              <a:rPr dirty="0" err="1"/>
              <a:t>liest</a:t>
            </a:r>
            <a:r>
              <a:rPr dirty="0"/>
              <a:t>: "Das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Ausschnitt</a:t>
            </a:r>
            <a:r>
              <a:rPr dirty="0"/>
              <a:t>, das </a:t>
            </a:r>
            <a:r>
              <a:rPr dirty="0" err="1"/>
              <a:t>vollständige</a:t>
            </a:r>
            <a:endParaRPr dirty="0"/>
          </a:p>
          <a:p>
            <a:r>
              <a:rPr dirty="0"/>
              <a:t>Stück </a:t>
            </a:r>
            <a:r>
              <a:rPr dirty="0" err="1"/>
              <a:t>liegt</a:t>
            </a:r>
            <a:r>
              <a:rPr dirty="0"/>
              <a:t> in beispiele.txt – </a:t>
            </a:r>
            <a:r>
              <a:rPr dirty="0" err="1"/>
              <a:t>dort</a:t>
            </a:r>
            <a:r>
              <a:rPr dirty="0"/>
              <a:t> </a:t>
            </a:r>
            <a:r>
              <a:rPr dirty="0" err="1"/>
              <a:t>wechselt</a:t>
            </a:r>
            <a:r>
              <a:rPr dirty="0"/>
              <a:t> es </a:t>
            </a:r>
            <a:r>
              <a:rPr dirty="0" err="1"/>
              <a:t>sogar</a:t>
            </a:r>
            <a:r>
              <a:rPr dirty="0"/>
              <a:t> die </a:t>
            </a:r>
            <a:r>
              <a:rPr dirty="0" err="1"/>
              <a:t>Tonart</a:t>
            </a:r>
            <a:endParaRPr dirty="0"/>
          </a:p>
          <a:p>
            <a:r>
              <a:rPr dirty="0" err="1"/>
              <a:t>nach</a:t>
            </a:r>
            <a:r>
              <a:rPr dirty="0"/>
              <a:t> D-</a:t>
            </a:r>
            <a:r>
              <a:rPr dirty="0" err="1"/>
              <a:t>Mixolydisch</a:t>
            </a:r>
            <a:r>
              <a:rPr dirty="0"/>
              <a:t>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▶ 1) ABLATION LSTM vs. GRU (2 </a:t>
            </a:r>
            <a:r>
              <a:rPr dirty="0" err="1"/>
              <a:t>Punkte</a:t>
            </a:r>
            <a:r>
              <a:rPr dirty="0"/>
              <a:t>)</a:t>
            </a:r>
            <a:endParaRPr lang="fr-FR" dirty="0"/>
          </a:p>
          <a:p>
            <a:r>
              <a:rPr lang="fr-FR" dirty="0"/>
              <a:t>In </a:t>
            </a:r>
            <a:r>
              <a:rPr lang="fr-FR" dirty="0" err="1"/>
              <a:t>Task</a:t>
            </a:r>
            <a:r>
              <a:rPr lang="fr-FR" dirty="0"/>
              <a:t> 5 </a:t>
            </a:r>
            <a:r>
              <a:rPr lang="fr-FR" dirty="0" err="1"/>
              <a:t>evaluieren</a:t>
            </a:r>
            <a:r>
              <a:rPr lang="fr-FR" dirty="0"/>
              <a:t> </a:t>
            </a:r>
            <a:r>
              <a:rPr lang="fr-FR" dirty="0" err="1"/>
              <a:t>wir</a:t>
            </a:r>
            <a:r>
              <a:rPr lang="fr-FR" dirty="0"/>
              <a:t> </a:t>
            </a:r>
            <a:r>
              <a:rPr lang="fr-FR" dirty="0" err="1"/>
              <a:t>auf</a:t>
            </a:r>
            <a:r>
              <a:rPr lang="fr-FR" dirty="0"/>
              <a:t> </a:t>
            </a:r>
            <a:r>
              <a:rPr lang="fr-FR" dirty="0" err="1"/>
              <a:t>dem</a:t>
            </a:r>
            <a:r>
              <a:rPr lang="fr-FR" dirty="0"/>
              <a:t> Test-Set. Laut </a:t>
            </a:r>
            <a:r>
              <a:rPr lang="fr-FR" dirty="0" err="1"/>
              <a:t>Aufgabenstellung</a:t>
            </a:r>
            <a:r>
              <a:rPr lang="fr-FR" dirty="0"/>
              <a:t>: Top-1 </a:t>
            </a:r>
            <a:r>
              <a:rPr lang="fr-FR" dirty="0" err="1"/>
              <a:t>heißt</a:t>
            </a:r>
            <a:r>
              <a:rPr lang="fr-FR" dirty="0"/>
              <a:t>, </a:t>
            </a:r>
            <a:r>
              <a:rPr lang="fr-FR" dirty="0" err="1"/>
              <a:t>das</a:t>
            </a:r>
            <a:r>
              <a:rPr lang="fr-FR" dirty="0"/>
              <a:t> </a:t>
            </a:r>
            <a:r>
              <a:rPr lang="fr-FR" dirty="0" err="1"/>
              <a:t>richtige</a:t>
            </a:r>
            <a:r>
              <a:rPr lang="fr-FR" dirty="0"/>
              <a:t> </a:t>
            </a:r>
            <a:r>
              <a:rPr lang="fr-FR" dirty="0" err="1"/>
              <a:t>nächste</a:t>
            </a:r>
            <a:r>
              <a:rPr lang="fr-FR" dirty="0"/>
              <a:t> </a:t>
            </a:r>
            <a:r>
              <a:rPr lang="fr-FR" dirty="0" err="1"/>
              <a:t>Zeichen</a:t>
            </a:r>
            <a:r>
              <a:rPr lang="fr-FR" dirty="0"/>
              <a:t> </a:t>
            </a:r>
            <a:r>
              <a:rPr lang="fr-FR" dirty="0" err="1"/>
              <a:t>ist</a:t>
            </a:r>
            <a:r>
              <a:rPr lang="fr-FR" dirty="0"/>
              <a:t> die </a:t>
            </a:r>
            <a:r>
              <a:rPr lang="fr-FR" dirty="0" err="1"/>
              <a:t>wahrscheinlichste</a:t>
            </a:r>
            <a:r>
              <a:rPr lang="fr-FR" dirty="0"/>
              <a:t> </a:t>
            </a:r>
            <a:r>
              <a:rPr lang="fr-FR" dirty="0" err="1"/>
              <a:t>Vorhersage</a:t>
            </a:r>
            <a:r>
              <a:rPr lang="fr-FR" dirty="0"/>
              <a:t>; Top-5 </a:t>
            </a:r>
            <a:r>
              <a:rPr lang="fr-FR" dirty="0" err="1"/>
              <a:t>heißt</a:t>
            </a:r>
            <a:r>
              <a:rPr lang="fr-FR" dirty="0"/>
              <a:t>, es </a:t>
            </a:r>
            <a:r>
              <a:rPr lang="fr-FR" dirty="0" err="1"/>
              <a:t>liegt</a:t>
            </a:r>
            <a:r>
              <a:rPr lang="fr-FR" dirty="0"/>
              <a:t> </a:t>
            </a:r>
            <a:r>
              <a:rPr lang="fr-FR" dirty="0" err="1"/>
              <a:t>unter</a:t>
            </a:r>
            <a:r>
              <a:rPr lang="fr-FR" dirty="0"/>
              <a:t> den </a:t>
            </a:r>
            <a:r>
              <a:rPr lang="fr-FR" dirty="0" err="1"/>
              <a:t>fünf</a:t>
            </a:r>
            <a:r>
              <a:rPr lang="fr-FR" dirty="0"/>
              <a:t> </a:t>
            </a:r>
            <a:r>
              <a:rPr lang="fr-FR" dirty="0" err="1"/>
              <a:t>besten</a:t>
            </a:r>
            <a:r>
              <a:rPr lang="fr-FR" dirty="0"/>
              <a:t>. Unser LSTM </a:t>
            </a:r>
            <a:r>
              <a:rPr lang="fr-FR" dirty="0" err="1"/>
              <a:t>erreicht</a:t>
            </a:r>
            <a:r>
              <a:rPr lang="fr-FR" dirty="0"/>
              <a:t> 67,6 % Top-1 </a:t>
            </a:r>
            <a:r>
              <a:rPr lang="fr-FR" dirty="0" err="1"/>
              <a:t>und</a:t>
            </a:r>
            <a:r>
              <a:rPr lang="fr-FR" dirty="0"/>
              <a:t> 93,4 % Top-5. </a:t>
            </a:r>
            <a:r>
              <a:rPr lang="fr-FR" dirty="0" err="1"/>
              <a:t>Zum</a:t>
            </a:r>
            <a:r>
              <a:rPr lang="fr-FR" dirty="0"/>
              <a:t> </a:t>
            </a:r>
            <a:r>
              <a:rPr lang="fr-FR" dirty="0" err="1"/>
              <a:t>Vergleich</a:t>
            </a:r>
            <a:r>
              <a:rPr lang="fr-FR" dirty="0"/>
              <a:t>: </a:t>
            </a:r>
            <a:r>
              <a:rPr lang="fr-FR" dirty="0" err="1"/>
              <a:t>zufälliges</a:t>
            </a:r>
            <a:r>
              <a:rPr lang="fr-FR" dirty="0"/>
              <a:t> Raten </a:t>
            </a:r>
            <a:r>
              <a:rPr lang="fr-FR" dirty="0" err="1"/>
              <a:t>wäre</a:t>
            </a:r>
            <a:r>
              <a:rPr lang="fr-FR" dirty="0"/>
              <a:t> </a:t>
            </a:r>
            <a:r>
              <a:rPr lang="fr-FR" dirty="0" err="1"/>
              <a:t>nur</a:t>
            </a:r>
            <a:r>
              <a:rPr lang="fr-FR" dirty="0"/>
              <a:t> </a:t>
            </a:r>
            <a:r>
              <a:rPr lang="fr-FR" dirty="0" err="1"/>
              <a:t>etwa</a:t>
            </a:r>
            <a:r>
              <a:rPr lang="fr-FR" dirty="0"/>
              <a:t> 1 %. Top-5 </a:t>
            </a:r>
            <a:r>
              <a:rPr lang="fr-FR" dirty="0" err="1"/>
              <a:t>ist</a:t>
            </a:r>
            <a:r>
              <a:rPr lang="fr-FR" dirty="0"/>
              <a:t> </a:t>
            </a:r>
            <a:r>
              <a:rPr lang="fr-FR" dirty="0" err="1"/>
              <a:t>viel</a:t>
            </a:r>
            <a:r>
              <a:rPr lang="fr-FR" dirty="0"/>
              <a:t> </a:t>
            </a:r>
            <a:r>
              <a:rPr lang="fr-FR" dirty="0" err="1"/>
              <a:t>höher</a:t>
            </a:r>
            <a:r>
              <a:rPr lang="fr-FR" dirty="0"/>
              <a:t>, </a:t>
            </a:r>
            <a:r>
              <a:rPr lang="fr-FR" dirty="0" err="1"/>
              <a:t>weil</a:t>
            </a:r>
            <a:r>
              <a:rPr lang="fr-FR" dirty="0"/>
              <a:t> in </a:t>
            </a:r>
            <a:r>
              <a:rPr lang="fr-FR" dirty="0" err="1"/>
              <a:t>Musik</a:t>
            </a:r>
            <a:r>
              <a:rPr lang="fr-FR" dirty="0"/>
              <a:t> </a:t>
            </a:r>
            <a:r>
              <a:rPr lang="fr-FR" dirty="0" err="1"/>
              <a:t>oft</a:t>
            </a:r>
            <a:r>
              <a:rPr lang="fr-FR" dirty="0"/>
              <a:t> </a:t>
            </a:r>
            <a:r>
              <a:rPr lang="fr-FR" dirty="0" err="1"/>
              <a:t>mehrere</a:t>
            </a:r>
            <a:r>
              <a:rPr lang="fr-FR" dirty="0"/>
              <a:t> </a:t>
            </a:r>
            <a:r>
              <a:rPr lang="fr-FR" dirty="0" err="1"/>
              <a:t>Zeichen</a:t>
            </a:r>
            <a:r>
              <a:rPr lang="fr-FR" dirty="0"/>
              <a:t> </a:t>
            </a:r>
            <a:r>
              <a:rPr lang="fr-FR" dirty="0" err="1"/>
              <a:t>plausibel</a:t>
            </a:r>
            <a:r>
              <a:rPr lang="fr-FR" dirty="0"/>
              <a:t> </a:t>
            </a:r>
            <a:r>
              <a:rPr lang="fr-FR" dirty="0" err="1"/>
              <a:t>sind</a:t>
            </a:r>
            <a:r>
              <a:rPr lang="fr-FR" dirty="0"/>
              <a:t>. </a:t>
            </a:r>
            <a:r>
              <a:rPr lang="fr-FR" dirty="0" err="1"/>
              <a:t>Siehe</a:t>
            </a:r>
            <a:r>
              <a:rPr lang="fr-FR" dirty="0"/>
              <a:t> Notebook </a:t>
            </a:r>
            <a:r>
              <a:rPr lang="fr-FR" dirty="0" err="1"/>
              <a:t>Abschnitt</a:t>
            </a:r>
            <a:r>
              <a:rPr lang="fr-FR" dirty="0"/>
              <a:t> 6 </a:t>
            </a:r>
            <a:r>
              <a:rPr lang="fr-FR" dirty="0" err="1"/>
              <a:t>und</a:t>
            </a:r>
            <a:r>
              <a:rPr lang="fr-FR" dirty="0"/>
              <a:t> 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ergebnisse.json</a:t>
            </a:r>
            <a:r>
              <a:rPr lang="fr-FR" dirty="0"/>
              <a:t>.</a:t>
            </a:r>
            <a:endParaRPr dirty="0"/>
          </a:p>
          <a:p>
            <a:endParaRPr lang="fr-FR" dirty="0"/>
          </a:p>
          <a:p>
            <a:r>
              <a:rPr dirty="0"/>
              <a:t>"Ich </a:t>
            </a:r>
            <a:r>
              <a:rPr dirty="0" err="1"/>
              <a:t>habe</a:t>
            </a:r>
            <a:r>
              <a:rPr dirty="0"/>
              <a:t> </a:t>
            </a:r>
            <a:r>
              <a:rPr dirty="0" err="1"/>
              <a:t>exakt</a:t>
            </a:r>
            <a:r>
              <a:rPr dirty="0"/>
              <a:t> </a:t>
            </a:r>
            <a:r>
              <a:rPr dirty="0" err="1"/>
              <a:t>dieselbe</a:t>
            </a:r>
            <a:r>
              <a:rPr dirty="0"/>
              <a:t> </a:t>
            </a:r>
            <a:r>
              <a:rPr dirty="0" err="1"/>
              <a:t>Architektur</a:t>
            </a:r>
            <a:r>
              <a:rPr dirty="0"/>
              <a:t> </a:t>
            </a:r>
            <a:r>
              <a:rPr dirty="0" err="1"/>
              <a:t>nochmal</a:t>
            </a:r>
            <a:r>
              <a:rPr dirty="0"/>
              <a:t> </a:t>
            </a:r>
            <a:r>
              <a:rPr dirty="0" err="1"/>
              <a:t>trainiert</a:t>
            </a:r>
            <a:r>
              <a:rPr dirty="0"/>
              <a:t> und </a:t>
            </a:r>
            <a:r>
              <a:rPr dirty="0" err="1"/>
              <a:t>nur</a:t>
            </a:r>
            <a:r>
              <a:rPr dirty="0"/>
              <a:t> den</a:t>
            </a:r>
          </a:p>
          <a:p>
            <a:r>
              <a:rPr dirty="0" err="1"/>
              <a:t>rekurrenten</a:t>
            </a:r>
            <a:r>
              <a:rPr dirty="0"/>
              <a:t> Layer </a:t>
            </a:r>
            <a:r>
              <a:rPr dirty="0" err="1"/>
              <a:t>getauscht</a:t>
            </a:r>
            <a:r>
              <a:rPr dirty="0"/>
              <a:t>."</a:t>
            </a:r>
          </a:p>
          <a:p>
            <a:endParaRPr dirty="0"/>
          </a:p>
          <a:p>
            <a:r>
              <a:rPr dirty="0"/>
              <a:t>📊 LSTM: 67,6 % / 93,4 %  –  885.596 Parameter</a:t>
            </a:r>
          </a:p>
          <a:p>
            <a:r>
              <a:rPr dirty="0"/>
              <a:t>📊 GRU:  68,5 % / 93,6 %  –  671.580 Parameter  (24 % </a:t>
            </a:r>
            <a:r>
              <a:rPr dirty="0" err="1"/>
              <a:t>weniger</a:t>
            </a:r>
            <a:r>
              <a:rPr dirty="0"/>
              <a:t>!)</a:t>
            </a:r>
          </a:p>
          <a:p>
            <a:endParaRPr dirty="0"/>
          </a:p>
          <a:p>
            <a:r>
              <a:rPr dirty="0"/>
              <a:t>"Die GRU </a:t>
            </a:r>
            <a:r>
              <a:rPr dirty="0" err="1"/>
              <a:t>ist</a:t>
            </a:r>
            <a:r>
              <a:rPr dirty="0"/>
              <a:t> also minimal </a:t>
            </a:r>
            <a:r>
              <a:rPr dirty="0" err="1"/>
              <a:t>besser</a:t>
            </a:r>
            <a:r>
              <a:rPr dirty="0"/>
              <a:t> – </a:t>
            </a:r>
            <a:r>
              <a:rPr dirty="0" err="1"/>
              <a:t>bei</a:t>
            </a:r>
            <a:r>
              <a:rPr dirty="0"/>
              <a:t> 24 % </a:t>
            </a:r>
            <a:r>
              <a:rPr dirty="0" err="1"/>
              <a:t>weniger</a:t>
            </a:r>
            <a:r>
              <a:rPr dirty="0"/>
              <a:t> </a:t>
            </a:r>
            <a:r>
              <a:rPr dirty="0" err="1"/>
              <a:t>Parametern</a:t>
            </a:r>
            <a:r>
              <a:rPr dirty="0"/>
              <a:t>."</a:t>
            </a:r>
          </a:p>
          <a:p>
            <a:endParaRPr dirty="0"/>
          </a:p>
          <a:p>
            <a:r>
              <a:rPr dirty="0"/>
              <a:t>❓ FALLS GEFRAGT "</a:t>
            </a:r>
            <a:r>
              <a:rPr dirty="0" err="1"/>
              <a:t>Warum</a:t>
            </a:r>
            <a:r>
              <a:rPr dirty="0"/>
              <a:t> hat die GRU </a:t>
            </a:r>
            <a:r>
              <a:rPr dirty="0" err="1"/>
              <a:t>weniger</a:t>
            </a:r>
            <a:r>
              <a:rPr dirty="0"/>
              <a:t> Parameter?"</a:t>
            </a:r>
          </a:p>
          <a:p>
            <a:r>
              <a:rPr dirty="0"/>
              <a:t>"Die GRU </a:t>
            </a:r>
            <a:r>
              <a:rPr dirty="0" err="1"/>
              <a:t>fusioniert</a:t>
            </a:r>
            <a:r>
              <a:rPr dirty="0"/>
              <a:t> Forget- und Input-Gate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einem</a:t>
            </a:r>
            <a:r>
              <a:rPr dirty="0"/>
              <a:t> </a:t>
            </a:r>
            <a:r>
              <a:rPr dirty="0" err="1"/>
              <a:t>einzigen</a:t>
            </a:r>
            <a:r>
              <a:rPr dirty="0"/>
              <a:t> Update-Gate:</a:t>
            </a:r>
          </a:p>
          <a:p>
            <a:r>
              <a:rPr dirty="0"/>
              <a:t>was </a:t>
            </a:r>
            <a:r>
              <a:rPr dirty="0" err="1"/>
              <a:t>sie</a:t>
            </a:r>
            <a:r>
              <a:rPr dirty="0"/>
              <a:t> neu </a:t>
            </a:r>
            <a:r>
              <a:rPr dirty="0" err="1"/>
              <a:t>aufnimmt</a:t>
            </a:r>
            <a:r>
              <a:rPr dirty="0"/>
              <a:t>, </a:t>
            </a:r>
            <a:r>
              <a:rPr dirty="0" err="1"/>
              <a:t>vergisst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automatisch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</a:t>
            </a:r>
            <a:r>
              <a:rPr dirty="0" err="1"/>
              <a:t>gleichen</a:t>
            </a:r>
            <a:r>
              <a:rPr dirty="0"/>
              <a:t> </a:t>
            </a:r>
            <a:r>
              <a:rPr dirty="0" err="1"/>
              <a:t>Maß</a:t>
            </a:r>
            <a:r>
              <a:rPr dirty="0"/>
              <a:t>. Und </a:t>
            </a:r>
            <a:r>
              <a:rPr dirty="0" err="1"/>
              <a:t>sie</a:t>
            </a:r>
            <a:endParaRPr dirty="0"/>
          </a:p>
          <a:p>
            <a:r>
              <a:rPr dirty="0"/>
              <a:t>hat gar </a:t>
            </a:r>
            <a:r>
              <a:rPr dirty="0" err="1"/>
              <a:t>kein</a:t>
            </a:r>
            <a:r>
              <a:rPr dirty="0"/>
              <a:t> Output-Gate, </a:t>
            </a:r>
            <a:r>
              <a:rPr dirty="0" err="1"/>
              <a:t>weil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Cell State und Hidden State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einem</a:t>
            </a:r>
            <a:endParaRPr dirty="0"/>
          </a:p>
          <a:p>
            <a:r>
              <a:rPr dirty="0" err="1"/>
              <a:t>Zustand</a:t>
            </a:r>
            <a:r>
              <a:rPr dirty="0"/>
              <a:t> </a:t>
            </a:r>
            <a:r>
              <a:rPr dirty="0" err="1"/>
              <a:t>verschmilzt</a:t>
            </a:r>
            <a:r>
              <a:rPr dirty="0"/>
              <a:t>. </a:t>
            </a:r>
            <a:r>
              <a:rPr dirty="0" err="1"/>
              <a:t>Ergebnis</a:t>
            </a:r>
            <a:r>
              <a:rPr dirty="0"/>
              <a:t>: 3 </a:t>
            </a:r>
            <a:r>
              <a:rPr dirty="0" err="1"/>
              <a:t>Gewichtsmatrizen</a:t>
            </a:r>
            <a:r>
              <a:rPr dirty="0"/>
              <a:t> </a:t>
            </a:r>
            <a:r>
              <a:rPr dirty="0" err="1"/>
              <a:t>statt</a:t>
            </a:r>
            <a:r>
              <a:rPr dirty="0"/>
              <a:t> 4 – also </a:t>
            </a:r>
            <a:r>
              <a:rPr dirty="0" err="1"/>
              <a:t>genau</a:t>
            </a:r>
            <a:endParaRPr dirty="0"/>
          </a:p>
          <a:p>
            <a:r>
              <a:rPr dirty="0" err="1"/>
              <a:t>drei</a:t>
            </a:r>
            <a:r>
              <a:rPr dirty="0"/>
              <a:t> Viertel. Bei </a:t>
            </a:r>
            <a:r>
              <a:rPr dirty="0" err="1"/>
              <a:t>einer</a:t>
            </a:r>
            <a:r>
              <a:rPr dirty="0"/>
              <a:t> Aufgabe </a:t>
            </a:r>
            <a:r>
              <a:rPr dirty="0" err="1"/>
              <a:t>dieser</a:t>
            </a:r>
            <a:r>
              <a:rPr dirty="0"/>
              <a:t> </a:t>
            </a:r>
            <a:r>
              <a:rPr dirty="0" err="1"/>
              <a:t>Größe</a:t>
            </a:r>
            <a:r>
              <a:rPr dirty="0"/>
              <a:t> </a:t>
            </a:r>
            <a:r>
              <a:rPr dirty="0" err="1"/>
              <a:t>zahlt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die </a:t>
            </a:r>
            <a:r>
              <a:rPr dirty="0" err="1"/>
              <a:t>zusätzliche</a:t>
            </a:r>
            <a:endParaRPr dirty="0"/>
          </a:p>
          <a:p>
            <a:r>
              <a:rPr dirty="0" err="1"/>
              <a:t>Flexibilität</a:t>
            </a:r>
            <a:r>
              <a:rPr dirty="0"/>
              <a:t> des LSTM </a:t>
            </a:r>
            <a:r>
              <a:rPr dirty="0" err="1"/>
              <a:t>offenbar</a:t>
            </a:r>
            <a:r>
              <a:rPr dirty="0"/>
              <a:t> nicht </a:t>
            </a:r>
            <a:r>
              <a:rPr dirty="0" err="1"/>
              <a:t>aus.</a:t>
            </a:r>
            <a:r>
              <a:rPr dirty="0"/>
              <a:t>"</a:t>
            </a:r>
          </a:p>
          <a:p>
            <a:endParaRPr dirty="0"/>
          </a:p>
          <a:p>
            <a:r>
              <a:rPr dirty="0"/>
              <a:t>▶ 2) VALIDITY CHECK (2 </a:t>
            </a:r>
            <a:r>
              <a:rPr dirty="0" err="1"/>
              <a:t>Punkte</a:t>
            </a:r>
            <a:r>
              <a:rPr dirty="0"/>
              <a:t>)</a:t>
            </a:r>
          </a:p>
          <a:p>
            <a:r>
              <a:rPr dirty="0"/>
              <a:t>"Top-1 </a:t>
            </a:r>
            <a:r>
              <a:rPr dirty="0" err="1"/>
              <a:t>sagt</a:t>
            </a:r>
            <a:r>
              <a:rPr dirty="0"/>
              <a:t> </a:t>
            </a:r>
            <a:r>
              <a:rPr dirty="0" err="1"/>
              <a:t>nichts</a:t>
            </a:r>
            <a:r>
              <a:rPr dirty="0"/>
              <a:t> </a:t>
            </a:r>
            <a:r>
              <a:rPr dirty="0" err="1"/>
              <a:t>darüber</a:t>
            </a:r>
            <a:r>
              <a:rPr dirty="0"/>
              <a:t>, </a:t>
            </a:r>
            <a:r>
              <a:rPr dirty="0" err="1"/>
              <a:t>ob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GANZES Stück </a:t>
            </a:r>
            <a:r>
              <a:rPr dirty="0" err="1"/>
              <a:t>gültig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. </a:t>
            </a:r>
            <a:r>
              <a:rPr dirty="0" err="1"/>
              <a:t>Deshalb</a:t>
            </a:r>
            <a:r>
              <a:rPr dirty="0"/>
              <a:t> </a:t>
            </a:r>
            <a:r>
              <a:rPr dirty="0" err="1"/>
              <a:t>prüfe</a:t>
            </a:r>
            <a:endParaRPr dirty="0"/>
          </a:p>
          <a:p>
            <a:r>
              <a:rPr dirty="0"/>
              <a:t>ich 6 </a:t>
            </a:r>
            <a:r>
              <a:rPr dirty="0" err="1"/>
              <a:t>Grammatikregeln</a:t>
            </a:r>
            <a:r>
              <a:rPr dirty="0"/>
              <a:t> der ABC-Notation: </a:t>
            </a:r>
            <a:r>
              <a:rPr dirty="0" err="1"/>
              <a:t>Kopfzeilen</a:t>
            </a:r>
            <a:r>
              <a:rPr dirty="0"/>
              <a:t>, </a:t>
            </a:r>
            <a:r>
              <a:rPr dirty="0" err="1"/>
              <a:t>Tonart</a:t>
            </a:r>
            <a:r>
              <a:rPr dirty="0"/>
              <a:t>, </a:t>
            </a:r>
            <a:r>
              <a:rPr dirty="0" err="1"/>
              <a:t>genügend</a:t>
            </a:r>
            <a:endParaRPr dirty="0"/>
          </a:p>
          <a:p>
            <a:r>
              <a:rPr dirty="0" err="1"/>
              <a:t>Taktstriche</a:t>
            </a:r>
            <a:r>
              <a:rPr dirty="0"/>
              <a:t>, </a:t>
            </a:r>
            <a:r>
              <a:rPr dirty="0" err="1"/>
              <a:t>echte</a:t>
            </a:r>
            <a:r>
              <a:rPr dirty="0"/>
              <a:t> Noten, </a:t>
            </a:r>
            <a:r>
              <a:rPr dirty="0" err="1"/>
              <a:t>keine</a:t>
            </a:r>
            <a:r>
              <a:rPr dirty="0"/>
              <a:t> </a:t>
            </a:r>
            <a:r>
              <a:rPr dirty="0" err="1"/>
              <a:t>leeren</a:t>
            </a:r>
            <a:r>
              <a:rPr dirty="0"/>
              <a:t> </a:t>
            </a:r>
            <a:r>
              <a:rPr dirty="0" err="1"/>
              <a:t>Takte</a:t>
            </a:r>
            <a:r>
              <a:rPr dirty="0"/>
              <a:t>, </a:t>
            </a:r>
            <a:r>
              <a:rPr dirty="0" err="1"/>
              <a:t>logischer</a:t>
            </a:r>
            <a:r>
              <a:rPr dirty="0"/>
              <a:t> </a:t>
            </a:r>
            <a:r>
              <a:rPr dirty="0" err="1"/>
              <a:t>Schluss</a:t>
            </a:r>
            <a:r>
              <a:rPr dirty="0"/>
              <a:t>.</a:t>
            </a:r>
          </a:p>
          <a:p>
            <a:r>
              <a:rPr dirty="0" err="1"/>
              <a:t>Unsere</a:t>
            </a:r>
            <a:r>
              <a:rPr dirty="0"/>
              <a:t> </a:t>
            </a:r>
            <a:r>
              <a:rPr dirty="0" err="1"/>
              <a:t>generierten</a:t>
            </a:r>
            <a:r>
              <a:rPr dirty="0"/>
              <a:t> </a:t>
            </a:r>
            <a:r>
              <a:rPr dirty="0" err="1"/>
              <a:t>Stücke</a:t>
            </a:r>
            <a:r>
              <a:rPr dirty="0"/>
              <a:t> </a:t>
            </a:r>
            <a:r>
              <a:rPr dirty="0" err="1"/>
              <a:t>erfüllen</a:t>
            </a:r>
            <a:r>
              <a:rPr dirty="0"/>
              <a:t> 100 % der </a:t>
            </a:r>
            <a:r>
              <a:rPr dirty="0" err="1"/>
              <a:t>Regeln</a:t>
            </a:r>
            <a:r>
              <a:rPr dirty="0"/>
              <a:t>."</a:t>
            </a:r>
          </a:p>
          <a:p>
            <a:endParaRPr dirty="0"/>
          </a:p>
          <a:p>
            <a:r>
              <a:rPr dirty="0"/>
              <a:t>▶ 3) KREATIVITÄT (1 </a:t>
            </a:r>
            <a:r>
              <a:rPr dirty="0" err="1"/>
              <a:t>Punkt</a:t>
            </a:r>
            <a:r>
              <a:rPr dirty="0"/>
              <a:t>)</a:t>
            </a:r>
          </a:p>
          <a:p>
            <a:r>
              <a:rPr dirty="0"/>
              <a:t>"Ein </a:t>
            </a:r>
            <a:r>
              <a:rPr dirty="0" err="1"/>
              <a:t>eigener</a:t>
            </a:r>
            <a:r>
              <a:rPr dirty="0"/>
              <a:t> Mini-Parser </a:t>
            </a:r>
            <a:r>
              <a:rPr dirty="0" err="1"/>
              <a:t>liest</a:t>
            </a:r>
            <a:r>
              <a:rPr dirty="0"/>
              <a:t> die Noten </a:t>
            </a:r>
            <a:r>
              <a:rPr dirty="0" err="1"/>
              <a:t>aus</a:t>
            </a:r>
            <a:r>
              <a:rPr dirty="0"/>
              <a:t> der ABC-Notation, </a:t>
            </a:r>
            <a:r>
              <a:rPr dirty="0" err="1"/>
              <a:t>jede</a:t>
            </a:r>
            <a:r>
              <a:rPr dirty="0"/>
              <a:t> Note</a:t>
            </a:r>
          </a:p>
          <a:p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Sinuswelle</a:t>
            </a:r>
            <a:r>
              <a:rPr dirty="0"/>
              <a:t> </a:t>
            </a:r>
            <a:r>
              <a:rPr dirty="0" err="1"/>
              <a:t>erzeugt</a:t>
            </a:r>
            <a:r>
              <a:rPr dirty="0"/>
              <a:t> (A4 = 440 Hz) und </a:t>
            </a:r>
            <a:r>
              <a:rPr dirty="0" err="1"/>
              <a:t>als</a:t>
            </a:r>
            <a:r>
              <a:rPr dirty="0"/>
              <a:t> WAV </a:t>
            </a:r>
            <a:r>
              <a:rPr dirty="0" err="1"/>
              <a:t>gespeichert</a:t>
            </a:r>
            <a:r>
              <a:rPr dirty="0"/>
              <a:t> –</a:t>
            </a:r>
          </a:p>
          <a:p>
            <a:r>
              <a:rPr dirty="0" err="1"/>
              <a:t>ganz</a:t>
            </a:r>
            <a:r>
              <a:rPr dirty="0"/>
              <a:t> </a:t>
            </a:r>
            <a:r>
              <a:rPr dirty="0" err="1"/>
              <a:t>ohne</a:t>
            </a:r>
            <a:r>
              <a:rPr dirty="0"/>
              <a:t> </a:t>
            </a:r>
            <a:r>
              <a:rPr dirty="0" err="1"/>
              <a:t>Zusatzbibliothek</a:t>
            </a:r>
            <a:r>
              <a:rPr dirty="0"/>
              <a:t>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▶ EHRLICH BLEIBEN – das wird hier honoriert!</a:t>
            </a:r>
          </a:p>
          <a:p>
            <a:endParaRPr/>
          </a:p>
          <a:p>
            <a:r>
              <a:t>1) DATENMENGE vs. RECHENZEIT</a:t>
            </a:r>
          </a:p>
          <a:p>
            <a:r>
              <a:t>"Wir haben nur 8.000 von 214.122 Stücken genutzt – also 3,7 %.</a:t>
            </a:r>
          </a:p>
          <a:p>
            <a:r>
              <a:t>Das war ein bewusster Kompromiss für die Trainingszeit, ist aber</a:t>
            </a:r>
          </a:p>
          <a:p>
            <a:r>
              <a:t>gleichzeitig unser größter Verbesserungshebel."</a:t>
            </a:r>
          </a:p>
          <a:p>
            <a:endParaRPr/>
          </a:p>
          <a:p>
            <a:r>
              <a:t>2) METRIK-DEFINITION</a:t>
            </a:r>
          </a:p>
          <a:p>
            <a:r>
              <a:t>"Die Accuracy berechne ich laut Aufgabenstellung pro Sequenz auf dem</a:t>
            </a:r>
          </a:p>
          <a:p>
            <a:r>
              <a:t>letzten Zeitschritt, den Loss aber über alle Zeitschritte – das gibt</a:t>
            </a:r>
          </a:p>
          <a:p>
            <a:r>
              <a:t>dem Modell pro Sequenz viel mehr Lernsignal und beschleunigt das Lernen."</a:t>
            </a:r>
          </a:p>
          <a:p>
            <a:endParaRPr/>
          </a:p>
          <a:p>
            <a:r>
              <a:t>3) REPETITIVE MUSIK</a:t>
            </a:r>
          </a:p>
          <a:p>
            <a:r>
              <a:t>"Mit Argmax wiederholte sich alles sofort – gelöst durch Sampling."</a:t>
            </a:r>
          </a:p>
          <a:p>
            <a:endParaRPr/>
          </a:p>
          <a:p>
            <a:r>
              <a:t>4) BEGRENZTER KONTEXT</a:t>
            </a:r>
          </a:p>
          <a:p>
            <a:r>
              <a:t>"Das Modell hat beim Training nur 100 Zeichen Kontext gesehen. Sehr lange</a:t>
            </a:r>
          </a:p>
          <a:p>
            <a:r>
              <a:t>Stücke verlieren daher manchmal die Struktur. Wir schneiden deshalb an</a:t>
            </a:r>
          </a:p>
          <a:p>
            <a:r>
              <a:t>der ersten Leerzeile ab."</a:t>
            </a:r>
          </a:p>
          <a:p>
            <a:endParaRPr/>
          </a:p>
          <a:p>
            <a:r>
              <a:t>5) SPLIT / LEAKAGE (falls noch nicht auf Folie 8 gefragt – proaktiv sagen!)</a:t>
            </a:r>
          </a:p>
          <a:p>
            <a:r>
              <a:t>"Und methodisch: meine gleitenden Fenster überlappen sich, und ich habe</a:t>
            </a:r>
          </a:p>
          <a:p>
            <a:r>
              <a:t>sie vor dem Split gemischt. Streng genommen können sich Train und Test</a:t>
            </a:r>
          </a:p>
          <a:p>
            <a:r>
              <a:t>dadurch leicht überschneiden – sauberer wäre, erst den Text zu splitten</a:t>
            </a:r>
          </a:p>
          <a:p>
            <a:r>
              <a:t>und dann in jedem Teil die Fenster zu bauen."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▶ ZUSAMMENFASSUNG</a:t>
            </a:r>
          </a:p>
          <a:p>
            <a:r>
              <a:t>"Zusammengefasst: ein einfaches LSTM-Sprachmodell auf Zeichen-Ebene</a:t>
            </a:r>
          </a:p>
          <a:p>
            <a:r>
              <a:t>reicht aus, um plausible irische Melodien zu erzeugen – 67,6 % Top-1</a:t>
            </a:r>
          </a:p>
          <a:p>
            <a:r>
              <a:t>und 93,4 % Top-5 gegenüber 1,1 % beim Zufall. LSTM und GRU liegen</a:t>
            </a:r>
          </a:p>
          <a:p>
            <a:r>
              <a:t>praktisch gleichauf, wobei die GRU mit deutlich weniger Parametern</a:t>
            </a:r>
          </a:p>
          <a:p>
            <a:r>
              <a:t>auskommt."</a:t>
            </a:r>
          </a:p>
          <a:p>
            <a:endParaRPr/>
          </a:p>
          <a:p>
            <a:r>
              <a:t>▶ AUSBLICK (in dieser Reihenfolge – der erste Punkt ist der wichtigste!)</a:t>
            </a:r>
          </a:p>
          <a:p>
            <a:r>
              <a:t>1. MEHR DATEN – wir nutzen nur 3,7 %. Da echte Vielfalt (andere Tonarten,</a:t>
            </a:r>
          </a:p>
          <a:p>
            <a:r>
              <a:t>   andere Taktarten) mehr bringt als dieselben Stücke öfter zu sehen,</a:t>
            </a:r>
          </a:p>
          <a:p>
            <a:r>
              <a:t>   ist das der stärkste Hebel.</a:t>
            </a:r>
          </a:p>
          <a:p>
            <a:r>
              <a:t>2. Längerer Kontext / größeres Modell</a:t>
            </a:r>
          </a:p>
          <a:p>
            <a:r>
              <a:t>3. Subword-Tokenizer (BPE) statt Zeichen-Ebene</a:t>
            </a:r>
          </a:p>
          <a:p>
            <a:r>
              <a:t>4. Attention / Transformer (Vorlesung 10)</a:t>
            </a:r>
          </a:p>
          <a:p>
            <a:endParaRPr/>
          </a:p>
          <a:p>
            <a:r>
              <a:t>▶ ABSCHLUSS</a:t>
            </a:r>
          </a:p>
          <a:p>
            <a:r>
              <a:t>"Vielen Dank für Ihre Aufmerksamkeit – gerne beantworten wir Ihre Fragen."</a:t>
            </a:r>
          </a:p>
          <a:p>
            <a:endParaRPr/>
          </a:p>
          <a:p>
            <a:r>
              <a:t>💡 Ruhig stehen bleiben, Fragen abwarten. Bei Unsicherheit:</a:t>
            </a:r>
          </a:p>
          <a:p>
            <a:r>
              <a:t>"Das haben wir nicht untersucht, aber mein Ansatz wäre ..."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1920240"/>
            <a:ext cx="1280160" cy="6350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10607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Segoe UI"/>
              </a:rPr>
              <a:t>Musikgenerierung mit RNNs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C9D6E4"/>
                </a:solidFill>
                <a:latin typeface="Segoe UI"/>
              </a:rPr>
              <a:t>Ein LSTM lernt irische Volksmusik in ABC-Notation – und komponiert selbst.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9D6E4"/>
                </a:solidFill>
                <a:latin typeface="Segoe UI"/>
              </a:rPr>
              <a:t>Einführung in Deep Learning · Abgabe 3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C9D6E4"/>
                </a:solidFill>
                <a:latin typeface="Segoe UI"/>
              </a:rPr>
              <a:t>Jordan Pokem · Leslie Tsafack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Die Aufgabe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00584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035040" cy="23391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dirty="0">
                <a:solidFill>
                  <a:srgbClr val="0B0B0B"/>
                </a:solidFill>
                <a:latin typeface="Segoe UI"/>
              </a:rPr>
              <a:t>•  Ziel: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neue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irische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Melodien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automatisch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generieren</a:t>
            </a:r>
            <a:endParaRPr sz="1800" b="0" dirty="0">
              <a:solidFill>
                <a:srgbClr val="0B0B0B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800" b="0" dirty="0">
                <a:solidFill>
                  <a:srgbClr val="0B0B0B"/>
                </a:solidFill>
                <a:latin typeface="Segoe UI"/>
              </a:rPr>
              <a:t>•  Musik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liegt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als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Text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vor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(ABC-Notation) →</a:t>
            </a:r>
          </a:p>
          <a:p>
            <a:pPr algn="l">
              <a:spcAft>
                <a:spcPts val="400"/>
              </a:spcAft>
            </a:pPr>
            <a:r>
              <a:rPr sz="1800" b="0" dirty="0">
                <a:solidFill>
                  <a:srgbClr val="0B0B0B"/>
                </a:solidFill>
                <a:latin typeface="Segoe UI"/>
              </a:rPr>
              <a:t>   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Musikgenerierung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=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Sprachmodellierung</a:t>
            </a:r>
            <a:endParaRPr sz="1800" b="0" dirty="0">
              <a:solidFill>
                <a:srgbClr val="0B0B0B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800" b="0" dirty="0">
                <a:solidFill>
                  <a:srgbClr val="0B0B0B"/>
                </a:solidFill>
                <a:latin typeface="Segoe UI"/>
              </a:rPr>
              <a:t>•  Ein RNN/LSTM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lernt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, das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jeweils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nächste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Zeichen</a:t>
            </a:r>
            <a:endParaRPr sz="1800" b="0" dirty="0">
              <a:solidFill>
                <a:srgbClr val="0B0B0B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800" b="0" dirty="0">
                <a:solidFill>
                  <a:srgbClr val="0B0B0B"/>
                </a:solidFill>
                <a:latin typeface="Segoe UI"/>
              </a:rPr>
              <a:t>   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vorherzusagen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</a:t>
            </a:r>
            <a:endParaRPr lang="fr-FR" sz="1800" b="0" dirty="0">
              <a:solidFill>
                <a:srgbClr val="0B0B0B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800" b="0" dirty="0">
                <a:solidFill>
                  <a:srgbClr val="0B0B0B"/>
                </a:solidFill>
                <a:latin typeface="Segoe UI"/>
              </a:rPr>
              <a:t>•  Evaluation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mit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Top-1- und Top-5-Accuracy</a:t>
            </a:r>
          </a:p>
          <a:p>
            <a:pPr algn="l">
              <a:spcAft>
                <a:spcPts val="400"/>
              </a:spcAft>
            </a:pPr>
            <a:r>
              <a:rPr sz="1800" b="0" dirty="0">
                <a:solidFill>
                  <a:srgbClr val="0B0B0B"/>
                </a:solidFill>
                <a:latin typeface="Segoe UI"/>
              </a:rPr>
              <a:t>•  Training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komplett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mit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wandb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visualisiert</a:t>
            </a:r>
            <a:endParaRPr sz="1800" b="0" dirty="0">
              <a:solidFill>
                <a:srgbClr val="0B0B0B"/>
              </a:solidFill>
              <a:latin typeface="Segoe U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406640" y="1325880"/>
            <a:ext cx="4023360" cy="86868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ABC-Text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irische Volkslieder (IrishMAN)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2532888"/>
            <a:ext cx="4023360" cy="868680"/>
          </a:xfrm>
          <a:prstGeom prst="round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Zeichen-Tokenizer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Text → Zahlen-IDs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3739896"/>
            <a:ext cx="4023360" cy="86868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Embedding + LSTM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lernt das nächste Zeichen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4946904"/>
            <a:ext cx="4023360" cy="868680"/>
          </a:xfrm>
          <a:prstGeom prst="round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Sampling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Zeichen für Zeichen → neue Melodie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Datensatz: IrishMAN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00584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66928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Irish Massive ABC Notation (Hugging Face)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Verwendet: 8,000 Stücke aus dem Train-Split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Vokabular: 92 verschiedene Zeichen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46,686 Trainingssequenzen (Fensterlänge 100)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Split: 80 % Train / 10 % Validation / 10 % Test</a:t>
            </a:r>
          </a:p>
          <a:p>
            <a:pPr algn="l">
              <a:spcAft>
                <a:spcPts val="400"/>
              </a:spcAft>
            </a:pPr>
            <a:endParaRPr sz="1700" b="0">
              <a:solidFill>
                <a:srgbClr val="0B0B0B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ABC-Notation: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Kopfzeilen: M: Taktart, L: Notenlänge, K: Tonart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Noten A–G / a–g, Taktstriche |, Pausen 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280160"/>
            <a:ext cx="4937760" cy="4937760"/>
          </a:xfrm>
          <a:prstGeom prst="roundRect">
            <a:avLst/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3720" y="1444752"/>
            <a:ext cx="4480560" cy="4608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X:1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L:1/8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M:4/4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K:Emin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|: E2 EF E2 EF | DEFG AFDF | E2 EF E2 B2 |1 efe^d e2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0B0B0B"/>
                </a:solidFill>
                <a:latin typeface="Consolas"/>
              </a:rPr>
              <a:t> defg afdf |1 e2 ef g2 fe | efe^d e3 B :|2 g2 bg f2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62636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2514E"/>
                </a:solidFill>
                <a:latin typeface="Segoe UI"/>
              </a:rPr>
              <a:t>Original-Stück aus dem Datensatz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Vorverarbeitung: Tokenizer &amp; gleitendes Fenster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00584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8521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•  Zeichen-Tokenizer: jedes Zeichen = 1 Token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    (einfach + kein OOV-Problem, Vorlesung 9)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•  encode: Text → IDs  ·  decode: IDs → Text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•  Gleitendes Fenster der Länge 100,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    Schrittweite 50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•  Ziel-Sequenz = Input um 1 Zeichen verschoben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    → an jeder Position wird das nächste Zeichen gelernt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828800"/>
            <a:ext cx="4754880" cy="914400"/>
          </a:xfrm>
          <a:prstGeom prst="roundRect">
            <a:avLst/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95160" y="1993392"/>
            <a:ext cx="429768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Consolas"/>
              </a:rPr>
              <a:t>Input:  "K:D\n|:A2B c2d|"</a:t>
            </a:r>
          </a:p>
        </p:txBody>
      </p:sp>
      <p:sp>
        <p:nvSpPr>
          <p:cNvPr id="7" name="Down Arrow 6"/>
          <p:cNvSpPr/>
          <p:nvPr/>
        </p:nvSpPr>
        <p:spPr>
          <a:xfrm>
            <a:off x="8915400" y="2880360"/>
            <a:ext cx="457200" cy="502920"/>
          </a:xfrm>
          <a:prstGeom prst="downArrow">
            <a:avLst/>
          </a:prstGeom>
          <a:solidFill>
            <a:srgbClr val="52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766560" y="3520440"/>
            <a:ext cx="4754880" cy="914400"/>
          </a:xfrm>
          <a:prstGeom prst="roundRect">
            <a:avLst/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95160" y="3685032"/>
            <a:ext cx="429768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Consolas"/>
              </a:rPr>
              <a:t>Ziel:   ":D\n|:A2B c2d|e"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45720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2514E"/>
                </a:solidFill>
                <a:latin typeface="Segoe UI"/>
              </a:rPr>
              <a:t>um 1 Zeichen verschoben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Architektur: Embedding → LSTM → Linear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00584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377440"/>
            <a:ext cx="1965960" cy="1234440"/>
          </a:xfrm>
          <a:prstGeom prst="roundRect">
            <a:avLst/>
          </a:prstGeom>
          <a:solidFill>
            <a:srgbClr val="52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Zeichen-IDs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Batch × 100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05456" y="2880360"/>
            <a:ext cx="384048" cy="256032"/>
          </a:xfrm>
          <a:prstGeom prst="rightArrow">
            <a:avLst/>
          </a:prstGeom>
          <a:solidFill>
            <a:srgbClr val="52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926080" y="2377440"/>
            <a:ext cx="1965960" cy="123444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Embedding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Dim 64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928616" y="2880360"/>
            <a:ext cx="384048" cy="256032"/>
          </a:xfrm>
          <a:prstGeom prst="rightArrow">
            <a:avLst/>
          </a:prstGeom>
          <a:solidFill>
            <a:srgbClr val="52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49240" y="2377440"/>
            <a:ext cx="1965960" cy="1234440"/>
          </a:xfrm>
          <a:prstGeom prst="round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LSTM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2 × 256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351776" y="2880360"/>
            <a:ext cx="384048" cy="256032"/>
          </a:xfrm>
          <a:prstGeom prst="rightArrow">
            <a:avLst/>
          </a:prstGeom>
          <a:solidFill>
            <a:srgbClr val="52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72400" y="2377440"/>
            <a:ext cx="1965960" cy="123444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Linear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→ 92 Logits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774936" y="2880360"/>
            <a:ext cx="384048" cy="256032"/>
          </a:xfrm>
          <a:prstGeom prst="rightArrow">
            <a:avLst/>
          </a:prstGeom>
          <a:solidFill>
            <a:srgbClr val="52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195560" y="2377440"/>
            <a:ext cx="1965960" cy="1234440"/>
          </a:xfrm>
          <a:prstGeom prst="roundRect">
            <a:avLst/>
          </a:prstGeom>
          <a:solidFill>
            <a:srgbClr val="52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Softmax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nächstes Zeichen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11155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885,596 lernbare Parameter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Der Hidden State trägt den musikalischen Kontext von Zeitschritt zu Zeitschritt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Dieselbe Klasse kann auch GRU oder einfaches RNN verwenden (→ Ablation)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00584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47548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4765">
                <a:tc>
                  <a:txBody>
                    <a:bodyPr/>
                    <a:lstStyle/>
                    <a:p>
                      <a:r>
                        <a:rPr sz="1500" b="1">
                          <a:latin typeface="Segoe UI"/>
                        </a:rPr>
                        <a:t>Hyperparameter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Segoe UI"/>
                        </a:rPr>
                        <a:t>Wert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500" b="0">
                          <a:latin typeface="Segoe UI"/>
                        </a:rPr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Segoe UI"/>
                        </a:rPr>
                        <a:t>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500" b="0">
                          <a:latin typeface="Segoe UI"/>
                        </a:rPr>
                        <a:t>Learning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Segoe UI"/>
                        </a:rPr>
                        <a:t>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500" b="0">
                          <a:latin typeface="Segoe UI"/>
                        </a:rPr>
                        <a:t>Epochen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Segoe UI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500" b="0">
                          <a:latin typeface="Segoe UI"/>
                        </a:rPr>
                        <a:t>Hidden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Segoe UI"/>
                        </a:rPr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r>
                        <a:rPr sz="1500" b="0">
                          <a:latin typeface="Segoe UI"/>
                        </a:rPr>
                        <a:t>RNN-Schichten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Segoe UI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70">
                <a:tc>
                  <a:txBody>
                    <a:bodyPr/>
                    <a:lstStyle/>
                    <a:p>
                      <a:r>
                        <a:rPr sz="1500" b="0">
                          <a:latin typeface="Segoe UI"/>
                        </a:rPr>
                        <a:t>Sequenzlänge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Segoe UI"/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0" y="1371600"/>
            <a:ext cx="5669280" cy="1682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dirty="0">
                <a:solidFill>
                  <a:srgbClr val="0B0B0B"/>
                </a:solidFill>
                <a:latin typeface="Segoe UI"/>
              </a:rPr>
              <a:t>•  Loss: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CrossEntropy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über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alle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Zeitschritte</a:t>
            </a:r>
            <a:endParaRPr sz="1800" b="0" dirty="0">
              <a:solidFill>
                <a:srgbClr val="0B0B0B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800" b="0" dirty="0">
                <a:solidFill>
                  <a:srgbClr val="0B0B0B"/>
                </a:solidFill>
                <a:latin typeface="Segoe UI"/>
              </a:rPr>
              <a:t>•  Optimizer: Adam</a:t>
            </a:r>
          </a:p>
          <a:p>
            <a:pPr algn="l">
              <a:spcAft>
                <a:spcPts val="400"/>
              </a:spcAft>
            </a:pPr>
            <a:r>
              <a:rPr sz="1800" b="0" dirty="0">
                <a:solidFill>
                  <a:srgbClr val="0B0B0B"/>
                </a:solidFill>
                <a:latin typeface="Segoe UI"/>
              </a:rPr>
              <a:t>• 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Metriken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pro </a:t>
            </a:r>
            <a:r>
              <a:rPr sz="1800" b="0" dirty="0" err="1">
                <a:solidFill>
                  <a:srgbClr val="0B0B0B"/>
                </a:solidFill>
                <a:latin typeface="Segoe UI"/>
              </a:rPr>
              <a:t>Epoche</a:t>
            </a:r>
            <a:r>
              <a:rPr sz="1800" b="0" dirty="0">
                <a:solidFill>
                  <a:srgbClr val="0B0B0B"/>
                </a:solidFill>
                <a:latin typeface="Segoe UI"/>
              </a:rPr>
              <a:t> (Train + Validation):</a:t>
            </a:r>
          </a:p>
          <a:p>
            <a:pPr algn="l">
              <a:spcAft>
                <a:spcPts val="400"/>
              </a:spcAft>
            </a:pPr>
            <a:r>
              <a:rPr sz="1800" b="0" dirty="0">
                <a:solidFill>
                  <a:srgbClr val="0B0B0B"/>
                </a:solidFill>
                <a:latin typeface="Segoe UI"/>
              </a:rPr>
              <a:t>    Loss, Top-1- und Top-5-Accuracy</a:t>
            </a:r>
          </a:p>
          <a:p>
            <a:pPr algn="l">
              <a:spcAft>
                <a:spcPts val="400"/>
              </a:spcAft>
            </a:pPr>
            <a:r>
              <a:rPr sz="1800" b="0" dirty="0">
                <a:solidFill>
                  <a:srgbClr val="0B0B0B"/>
                </a:solidFill>
                <a:latin typeface="Segoe UI"/>
              </a:rPr>
              <a:t>•  Ein Run pro Experiment (LSTM, GRU)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Trainingskurven (LSTM)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00584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urven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5486400" cy="3135086"/>
          </a:xfrm>
          <a:prstGeom prst="rect">
            <a:avLst/>
          </a:prstGeom>
        </p:spPr>
      </p:pic>
      <p:pic>
        <p:nvPicPr>
          <p:cNvPr id="5" name="Picture 4" descr="kurven_accura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554480"/>
            <a:ext cx="5486400" cy="31350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120640"/>
            <a:ext cx="11155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•  Loss fällt stetig, Train und Validation bleiben nah beieinander (kein starkes Overfitting)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•  Interaktive Kurven und alle Runs: wandb.ai → eidl-thm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Evaluation auf dem Test-Set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00584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188720" y="1737360"/>
            <a:ext cx="4206240" cy="2377440"/>
          </a:xfrm>
          <a:prstGeom prst="roundRect">
            <a:avLst/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4206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400" b="1">
                <a:solidFill>
                  <a:srgbClr val="2A78D6"/>
                </a:solidFill>
                <a:latin typeface="Segoe UI"/>
              </a:rPr>
              <a:t>67.6%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337560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Top-1 Accuracy (LSTM)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737360"/>
            <a:ext cx="4206240" cy="2377440"/>
          </a:xfrm>
          <a:prstGeom prst="roundRect">
            <a:avLst/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2057400"/>
            <a:ext cx="4206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400" b="1">
                <a:solidFill>
                  <a:srgbClr val="008300"/>
                </a:solidFill>
                <a:latin typeface="Segoe UI"/>
              </a:rPr>
              <a:t>93.4%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337560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Top-5 Accuracy (LSTM)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11155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•  Definition (Übungsblatt): Anteil der Test-Sequenzen, bei denen das nächste Zeichen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    richtig (Top-1) bzw. unter den 5 wahrscheinlichsten (Top-5) vorhergesagt wird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•  Zum Vergleich: zufälliges Raten läge bei ≈ 1.1% (Vokabular mit 92 Zeichen)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Generierte Musik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00584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852160" cy="4846320"/>
          </a:xfrm>
          <a:prstGeom prst="roundRect">
            <a:avLst/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5394960" cy="4517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Consolas"/>
              </a:rPr>
              <a:t>X:1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Consolas"/>
              </a:rPr>
              <a:t>L:1/8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Consolas"/>
              </a:rPr>
              <a:t>M:6/8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Consolas"/>
              </a:rPr>
              <a:t>K:D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Consolas"/>
              </a:rPr>
              <a:t>|: A | f&gt;ga gfe | Ace A2 A | cBA B&gt;GA | f&gt;ea a&gt;g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0B0B0B"/>
                </a:solidFill>
                <a:latin typeface="Consolas"/>
              </a:rPr>
              <a:t> def gec | dcd GdB |1 AED DFA :|2 A4 ||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463040"/>
            <a:ext cx="47548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•  Seed = typischer ABC-Anfang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    (X: / L: / M: / K:)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•  Autoregressives Sampling: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    Softmax → Stichprobe →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    Zeichen anhängen → weiter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•  Stichprobe statt Argmax: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    jede Melodie wird anders,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    keine Endlos-Wiederholungen</a:t>
            </a:r>
          </a:p>
          <a:p>
            <a:pPr algn="l">
              <a:spcAft>
                <a:spcPts val="400"/>
              </a:spcAft>
            </a:pPr>
            <a:endParaRPr sz="1800" b="0">
              <a:solidFill>
                <a:srgbClr val="0B0B0B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•  Demo: generierte_musik.wav 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Bonus: Ablation, Validity Check &amp; Audio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00584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vergleich_lstm_gr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5394960" cy="30828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371600"/>
            <a:ext cx="54864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Ablation LSTM vs. GRU (2 P.)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•  LSTM: Top-1 67.6% · Top-5 93.4%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•  GRU:  Top-1 68.5% · Top-5 93.6%</a:t>
            </a:r>
          </a:p>
          <a:p>
            <a:pPr algn="l">
              <a:spcAft>
                <a:spcPts val="400"/>
              </a:spcAft>
            </a:pPr>
            <a:endParaRPr sz="1600" b="0">
              <a:solidFill>
                <a:srgbClr val="0B0B0B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Validity Check (2 P.)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•  6 Grammatik-Regeln der ABC-Notation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    (Kopfzeilen, Tonart, Taktstriche, Noten, Schluss)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•  Score der generierten Stücke: 100%</a:t>
            </a:r>
          </a:p>
          <a:p>
            <a:pPr algn="l">
              <a:spcAft>
                <a:spcPts val="400"/>
              </a:spcAft>
            </a:pPr>
            <a:endParaRPr sz="1600" b="0">
              <a:solidFill>
                <a:srgbClr val="0B0B0B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Kreativität (1 P.)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•  Eigener Mini-ABC-Parser + Sinus-Synthese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0B0B0B"/>
                </a:solidFill>
                <a:latin typeface="Segoe UI"/>
              </a:rPr>
              <a:t>•  Generierte Melodie als hörbare WAV-Datei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Herausforderungen &amp; Lösungen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00584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1556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Datenmenge vs. Trainingszeit  →  Teil-Set + Schrittweite des Fensters als Stellschrauben</a:t>
            </a:r>
          </a:p>
          <a:p>
            <a:pPr algn="l">
              <a:spcAft>
                <a:spcPts val="400"/>
              </a:spcAft>
            </a:pPr>
            <a:endParaRPr sz="1700" b="0">
              <a:solidFill>
                <a:srgbClr val="0B0B0B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Metrik-Definition vom Übungsblatt (pro Sequenz)  →  Accuracy nur auf dem letzten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    Zeitschritt berechnet, Loss aber über alle Zeitschritte (schnelleres Lernen)</a:t>
            </a:r>
          </a:p>
          <a:p>
            <a:pPr algn="l">
              <a:spcAft>
                <a:spcPts val="400"/>
              </a:spcAft>
            </a:pPr>
            <a:endParaRPr sz="1700" b="0">
              <a:solidFill>
                <a:srgbClr val="0B0B0B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Repetitive Musik bei Argmax  →  Sampling aus der Softmax-Verteilung (torch.multinomial)</a:t>
            </a:r>
          </a:p>
          <a:p>
            <a:pPr algn="l">
              <a:spcAft>
                <a:spcPts val="400"/>
              </a:spcAft>
            </a:pPr>
            <a:endParaRPr sz="1700" b="0">
              <a:solidFill>
                <a:srgbClr val="0B0B0B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Lange Stücke verlieren Struktur  →  Kontext des Modells ist auf die Fensterlänge begrenzt;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    Stücke werden an der ersten Leerzeile abgeschnitten</a:t>
            </a:r>
          </a:p>
          <a:p>
            <a:pPr algn="l">
              <a:spcAft>
                <a:spcPts val="400"/>
              </a:spcAft>
            </a:pPr>
            <a:endParaRPr sz="1700" b="0">
              <a:solidFill>
                <a:srgbClr val="0B0B0B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ABC-Syntax bewerten  →  eigener Regel-Check statt nur Accuracy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Fazit &amp; Ausblick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100584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1556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•  Ein einfaches LSTM-Sprachmodell reicht, um plausible irische Melodien zu erzeugen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•  Test-Set: Top-1 67.6% · Top-5 93.4% (Zufall ≈ 1.1%)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•  LSTM und GRU liegen nahezu gleichauf – GRU trainiert mit weniger Parametern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•  Ausblick: längerer Kontext, größeres Modell, Subword-Tokenizer (BPE),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    Attention/Transformer (Vorlesung 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A78D6"/>
                </a:solidFill>
                <a:latin typeface="Segoe UI"/>
              </a:rPr>
              <a:t>Vielen Dank! – Fragen?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3085</Words>
  <Application>Microsoft Office PowerPoint</Application>
  <PresentationFormat>Grand écran</PresentationFormat>
  <Paragraphs>365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Segoe UI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Jordan Freddy Pokem Tezo</cp:lastModifiedBy>
  <cp:revision>4</cp:revision>
  <dcterms:created xsi:type="dcterms:W3CDTF">2013-01-27T09:14:16Z</dcterms:created>
  <dcterms:modified xsi:type="dcterms:W3CDTF">2026-07-17T10:11:24Z</dcterms:modified>
  <cp:category/>
</cp:coreProperties>
</file>