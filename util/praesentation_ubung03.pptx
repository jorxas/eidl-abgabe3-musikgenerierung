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1280160" cy="6350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Musikgenerierung mit RNNs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C9D6E4"/>
                </a:solidFill>
                <a:latin typeface="Segoe UI"/>
              </a:rPr>
              <a:t>Ein LSTM lernt irische Volksmusik in ABC-Notation – und komponiert selbst.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6E4"/>
                </a:solidFill>
                <a:latin typeface="Segoe UI"/>
              </a:rPr>
              <a:t>Einführung in Deep Learning · Abgabe 3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6E4"/>
                </a:solidFill>
                <a:latin typeface="Segoe UI"/>
              </a:rPr>
              <a:t>Jordan Pokem · Leslie Tsafack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Die Aufgabe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035040" cy="23391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Ziel: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neue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irische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Melodien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automatisch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generieren</a:t>
            </a:r>
            <a:endParaRPr sz="1800" b="0" dirty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Musik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liegt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als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Text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vor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(ABC-Notation) →</a:t>
            </a: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   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Musikgenerierung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=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Sprachmodellierung</a:t>
            </a:r>
            <a:endParaRPr sz="1800" b="0" dirty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Ein RNN/LSTM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lernt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, das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jeweils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nächste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Zeichen</a:t>
            </a:r>
            <a:endParaRPr sz="1800" b="0" dirty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   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vorherzusagen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endParaRPr lang="fr-FR" sz="1800" b="0" dirty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Evaluation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mit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Top-1- und Top-5-Accuracy</a:t>
            </a: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Training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komplett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mit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wandb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visualisiert</a:t>
            </a:r>
            <a:endParaRPr sz="1800" b="0" dirty="0">
              <a:solidFill>
                <a:srgbClr val="0B0B0B"/>
              </a:solidFill>
              <a:latin typeface="Segoe U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06640" y="1325880"/>
            <a:ext cx="4023360" cy="86868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ABC-Text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irische Volkslieder (IrishMAN)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532888"/>
            <a:ext cx="4023360" cy="868680"/>
          </a:xfrm>
          <a:prstGeom prst="round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Zeichen-Tokenizer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Text → Zahlen-IDs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739896"/>
            <a:ext cx="4023360" cy="86868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Embedding + LSTM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lernt das nächste Zeichen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4946904"/>
            <a:ext cx="4023360" cy="868680"/>
          </a:xfrm>
          <a:prstGeom prst="round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Sampling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Zeichen für Zeichen → neue Melodie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Datensatz: IrishMAN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6692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Irish Massive ABC Notation (Hugging Face)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Verwendet: 8,000 Stücke aus dem Train-Split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Vokabular: 92 verschiedene Zeichen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46,686 Trainingssequenzen (Fensterlänge 100)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Split: 80 % Train / 10 % Validation / 10 % Test</a:t>
            </a:r>
          </a:p>
          <a:p>
            <a:pPr algn="l">
              <a:spcAft>
                <a:spcPts val="400"/>
              </a:spcAft>
            </a:pPr>
            <a:endParaRPr sz="1700" b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ABC-Notation: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Kopfzeilen: M: Taktart, L: Notenlänge, K: Tonart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Noten A–G / a–g, Taktstriche |, Pausen 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280160"/>
            <a:ext cx="4937760" cy="4937760"/>
          </a:xfrm>
          <a:prstGeom prst="roundRect">
            <a:avLst/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1444752"/>
            <a:ext cx="4480560" cy="4608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X:1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L:1/8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M:4/4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K:Emin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|: E2 EF E2 EF | DEFG AFDF | E2 EF E2 B2 |1 efe^d e2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 defg afdf |1 e2 ef g2 fe | efe^d e3 B :|2 g2 bg f2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62636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2514E"/>
                </a:solidFill>
                <a:latin typeface="Segoe UI"/>
              </a:rPr>
              <a:t>Original-Stück aus dem Datensatz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Vorverarbeitung: Tokenizer &amp; gleitendes Fenster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8521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Zeichen-Tokenizer: jedes Zeichen = 1 Token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(einfach + kein OOV-Problem, Vorlesung 9)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encode: Text → IDs  ·  decode: IDs → Text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Gleitendes Fenster der Länge 100,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Schrittweite 50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Ziel-Sequenz = Input um 1 Zeichen verschoben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→ an jeder Position wird das nächste Zeichen gelernt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828800"/>
            <a:ext cx="4754880" cy="914400"/>
          </a:xfrm>
          <a:prstGeom prst="roundRect">
            <a:avLst/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95160" y="1993392"/>
            <a:ext cx="429768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Consolas"/>
              </a:rPr>
              <a:t>Input:  "K:D\n|:A2B c2d|"</a:t>
            </a:r>
          </a:p>
        </p:txBody>
      </p:sp>
      <p:sp>
        <p:nvSpPr>
          <p:cNvPr id="7" name="Down Arrow 6"/>
          <p:cNvSpPr/>
          <p:nvPr/>
        </p:nvSpPr>
        <p:spPr>
          <a:xfrm>
            <a:off x="8915400" y="2880360"/>
            <a:ext cx="457200" cy="502920"/>
          </a:xfrm>
          <a:prstGeom prst="downArrow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766560" y="3520440"/>
            <a:ext cx="4754880" cy="914400"/>
          </a:xfrm>
          <a:prstGeom prst="roundRect">
            <a:avLst/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95160" y="3685032"/>
            <a:ext cx="429768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Consolas"/>
              </a:rPr>
              <a:t>Ziel:   ":D\n|:A2B c2d|e"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45720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um 1 Zeichen verschoben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Architektur: Embedding → LSTM → Linear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1965960" cy="1234440"/>
          </a:xfrm>
          <a:prstGeom prst="roundRect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Zeichen-IDs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Batch × 100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05456" y="2880360"/>
            <a:ext cx="384048" cy="256032"/>
          </a:xfrm>
          <a:prstGeom prst="rightArrow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26080" y="2377440"/>
            <a:ext cx="1965960" cy="123444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Embedding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Dim 64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28616" y="2880360"/>
            <a:ext cx="384048" cy="256032"/>
          </a:xfrm>
          <a:prstGeom prst="rightArrow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49240" y="2377440"/>
            <a:ext cx="1965960" cy="1234440"/>
          </a:xfrm>
          <a:prstGeom prst="round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LSTM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2 × 256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51776" y="2880360"/>
            <a:ext cx="384048" cy="256032"/>
          </a:xfrm>
          <a:prstGeom prst="rightArrow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0" y="2377440"/>
            <a:ext cx="1965960" cy="123444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Linear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→ 92 Logits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774936" y="2880360"/>
            <a:ext cx="384048" cy="256032"/>
          </a:xfrm>
          <a:prstGeom prst="rightArrow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95560" y="2377440"/>
            <a:ext cx="1965960" cy="1234440"/>
          </a:xfrm>
          <a:prstGeom prst="roundRect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Softmax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nächstes Zeichen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885,596 lernbare Parameter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Der Hidden State trägt den musikalischen Kontext von Zeitschritt zu Zeitschritt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Dieselbe Klasse kann auch GRU oder einfaches RNN verwenden (→ Ablation)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47548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r>
                        <a:rPr sz="1500" b="1">
                          <a:latin typeface="Segoe UI"/>
                        </a:rPr>
                        <a:t>Hyperparameter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Segoe UI"/>
                        </a:rPr>
                        <a:t>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Epochen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Hidden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RNN-Schichten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Sequenzlänge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1371600"/>
            <a:ext cx="5669280" cy="1682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Loss: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CrossEntropy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über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alle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Zeitschritte</a:t>
            </a:r>
            <a:endParaRPr sz="1800" b="0" dirty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Optimizer: Adam</a:t>
            </a: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Metriken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pro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Epoche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(Train + Validation):</a:t>
            </a: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    Loss, Top-1- und Top-5-Accuracy</a:t>
            </a: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Ein Run pro Experiment (LSTM, GRU)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Trainingskurven (LSTM)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urven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486400" cy="3135086"/>
          </a:xfrm>
          <a:prstGeom prst="rect">
            <a:avLst/>
          </a:prstGeom>
        </p:spPr>
      </p:pic>
      <p:pic>
        <p:nvPicPr>
          <p:cNvPr id="5" name="Picture 4" descr="kurven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486400" cy="31350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2064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Loss fällt stetig, Train und Validation bleiben nah beieinander (kein starkes Overfitting)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Interaktive Kurven und alle Runs: wandb.ai → eidl-thm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Evaluation auf dem Test-Set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88720" y="1737360"/>
            <a:ext cx="4206240" cy="2377440"/>
          </a:xfrm>
          <a:prstGeom prst="roundRect">
            <a:avLst/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4206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2A78D6"/>
                </a:solidFill>
                <a:latin typeface="Segoe UI"/>
              </a:rPr>
              <a:t>67.6%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33756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Top-1 Accuracy (LSTM)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737360"/>
            <a:ext cx="4206240" cy="2377440"/>
          </a:xfrm>
          <a:prstGeom prst="roundRect">
            <a:avLst/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2057400"/>
            <a:ext cx="4206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008300"/>
                </a:solidFill>
                <a:latin typeface="Segoe UI"/>
              </a:rPr>
              <a:t>93.4%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33756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Top-5 Accuracy (LSTM)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Definition (Übungsblatt): Anteil der Test-Sequenzen, bei denen das nächste Zeichen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 richtig (Top-1) bzw. unter den 5 wahrscheinlichsten (Top-5) vorhergesagt wird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Zum Vergleich: zufälliges Raten läge bei ≈ 1.1% (Vokabular mit 92 Zeichen)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Generierte Musik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852160" cy="4846320"/>
          </a:xfrm>
          <a:prstGeom prst="roundRect">
            <a:avLst/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5394960" cy="4517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X:1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L:1/8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M:6/8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K:D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|: A | f&gt;ga gfe | Ace A2 A | cBA B&gt;GA | f&gt;ea a&gt;g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 def gec | dcd GdB |1 AED DFA :|2 A4 ||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7548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Seed = typischer ABC-Anfang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(X: / L: / M: / K:)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Autoregressives Sampling: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Softmax → Stichprobe →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Zeichen anhängen → weiter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Stichprobe statt Argmax: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jede Melodie wird anders,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keine Endlos-Wiederholungen</a:t>
            </a:r>
          </a:p>
          <a:p>
            <a:pPr algn="l">
              <a:spcAft>
                <a:spcPts val="400"/>
              </a:spcAft>
            </a:pPr>
            <a:endParaRPr sz="1800" b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Demo: generierte_musik.wav 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Bonus: Ablation, Validity Check &amp; Audio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vergleich_lstm_g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394960" cy="30828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371600"/>
            <a:ext cx="54864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Ablation LSTM vs. GRU (2 P.)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LSTM: Top-1 67.6% · Top-5 93.4%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GRU:  Top-1 68.5% · Top-5 93.6%</a:t>
            </a:r>
          </a:p>
          <a:p>
            <a:pPr algn="l">
              <a:spcAft>
                <a:spcPts val="400"/>
              </a:spcAft>
            </a:pPr>
            <a:endParaRPr sz="1600" b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Validity Check (2 P.)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6 Grammatik-Regeln der ABC-Notation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 (Kopfzeilen, Tonart, Taktstriche, Noten, Schluss)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Score der generierten Stücke: 100%</a:t>
            </a:r>
          </a:p>
          <a:p>
            <a:pPr algn="l">
              <a:spcAft>
                <a:spcPts val="400"/>
              </a:spcAft>
            </a:pPr>
            <a:endParaRPr sz="1600" b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Kreativität (1 P.)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Eigener Mini-ABC-Parser + Sinus-Synthese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Generierte Melodie als hörbare WAV-Datei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Herausforderungen &amp; Lösungen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Datenmenge vs. Trainingszeit  →  Teil-Set + Schrittweite des Fensters als Stellschrauben</a:t>
            </a:r>
          </a:p>
          <a:p>
            <a:pPr algn="l">
              <a:spcAft>
                <a:spcPts val="400"/>
              </a:spcAft>
            </a:pPr>
            <a:endParaRPr sz="1700" b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Metrik-Definition vom Übungsblatt (pro Sequenz)  →  Accuracy nur auf dem letzten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 Zeitschritt berechnet, Loss aber über alle Zeitschritte (schnelleres Lernen)</a:t>
            </a:r>
          </a:p>
          <a:p>
            <a:pPr algn="l">
              <a:spcAft>
                <a:spcPts val="400"/>
              </a:spcAft>
            </a:pPr>
            <a:endParaRPr sz="1700" b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Repetitive Musik bei Argmax  →  Sampling aus der Softmax-Verteilung (torch.multinomial)</a:t>
            </a:r>
          </a:p>
          <a:p>
            <a:pPr algn="l">
              <a:spcAft>
                <a:spcPts val="400"/>
              </a:spcAft>
            </a:pPr>
            <a:endParaRPr sz="1700" b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Lange Stücke verlieren Struktur  →  Kontext des Modells ist auf die Fensterlänge begrenzt;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 Stücke werden an der ersten Leerzeile abgeschnitten</a:t>
            </a:r>
          </a:p>
          <a:p>
            <a:pPr algn="l">
              <a:spcAft>
                <a:spcPts val="400"/>
              </a:spcAft>
            </a:pPr>
            <a:endParaRPr sz="1700" b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ABC-Syntax bewerten  →  eigener Regel-Check statt nur Accuracy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Fazit &amp; Ausblick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Ein einfaches LSTM-Sprachmodell reicht, um plausible irische Melodien zu erzeugen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Test-Set: Top-1 67.6% · Top-5 93.4% (Zufall ≈ 1.1%)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LSTM und GRU liegen nahezu gleichauf – GRU trainiert mit weniger Parametern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Ausblick: längerer Kontext, größeres Modell, Subword-Tokenizer (BPE),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Attention/Transformer (Vorlesung 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A78D6"/>
                </a:solidFill>
                <a:latin typeface="Segoe UI"/>
              </a:rPr>
              <a:t>Vielen Dank! – Fragen?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880</Words>
  <Application>Microsoft Office PowerPoint</Application>
  <PresentationFormat>Grand écran</PresentationFormat>
  <Paragraphs>142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Jordan Freddy Pokem Tezo</cp:lastModifiedBy>
  <cp:revision>3</cp:revision>
  <dcterms:created xsi:type="dcterms:W3CDTF">2013-01-27T09:14:16Z</dcterms:created>
  <dcterms:modified xsi:type="dcterms:W3CDTF">2026-07-16T19:25:25Z</dcterms:modified>
  <cp:category/>
</cp:coreProperties>
</file>